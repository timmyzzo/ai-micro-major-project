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LSTM 验证MAE / W</c:f>
              <c:strCache>
                <c:ptCount val="1"/>
                <c:pt idx="0">
                  <c:v>LSTM 验证MAE / W</c:v>
                </c:pt>
              </c:strCache>
            </c:strRef>
          </c:tx>
          <c:spPr>
            <a:ln w="28575" cap="rnd">
              <a:solidFill>
                <a:srgbClr val="2F8CFF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cat>
            <c:numRef>
              <c:f>{1,2,3,4,5,6}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cat>
          <c:val>
            <c:numRef>
              <c:f>{754.521933833732,770.874804697491,842.373386242091,846.737383227769,868.889038202016,862.803556500391}</c:f>
              <c:numCache>
                <c:formatCode>General</c:formatCode>
                <c:ptCount val="6"/>
                <c:pt idx="0">
                  <c:v>754.521933833732</c:v>
                </c:pt>
                <c:pt idx="1">
                  <c:v>770.874804697491</c:v>
                </c:pt>
                <c:pt idx="2">
                  <c:v>842.373386242091</c:v>
                </c:pt>
                <c:pt idx="3">
                  <c:v>846.737383227769</c:v>
                </c:pt>
                <c:pt idx="4">
                  <c:v>868.889038202016</c:v>
                </c:pt>
                <c:pt idx="5">
                  <c:v>862.803556500391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PatchTST 验证MAE / W</c:f>
              <c:strCache>
                <c:ptCount val="1"/>
                <c:pt idx="0">
                  <c:v>PatchTST 验证MAE / W</c:v>
                </c:pt>
              </c:strCache>
            </c:strRef>
          </c:tx>
          <c:spPr>
            <a:ln w="28575" cap="rnd">
              <a:solidFill>
                <a:srgbClr val="42D392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cat>
            <c:numRef>
              <c:f>{1,2,3,4,5,6}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cat>
          <c:val>
            <c:numRef>
              <c:f>{714.819743488786,738.445479510119,739.985776402237,768.28777162397,779.389132522435,770.047291217553}</c:f>
              <c:numCache>
                <c:formatCode>General</c:formatCode>
                <c:ptCount val="6"/>
                <c:pt idx="0">
                  <c:v>714.819743488786</c:v>
                </c:pt>
                <c:pt idx="1">
                  <c:v>738.445479510119</c:v>
                </c:pt>
                <c:pt idx="2">
                  <c:v>739.985776402237</c:v>
                </c:pt>
                <c:pt idx="3">
                  <c:v>768.28777162397</c:v>
                </c:pt>
                <c:pt idx="4">
                  <c:v>779.389132522435</c:v>
                </c:pt>
                <c:pt idx="5">
                  <c:v>770.047291217553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293A4F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25" b="0" i="0" u="none" strike="noStrike" kern="1200" baseline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680"/>
        </c:scaling>
        <c:delete val="0"/>
        <c:axPos val="l"/>
        <c:majorGridlines>
          <c:spPr>
            <a:ln w="9525">
              <a:solidFill>
                <a:srgbClr val="293A4F"/>
              </a:solidFill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extTo"/>
        <c:spPr>
          <a:ln w="0">
            <a:solidFill>
              <a:srgbClr val="111D2C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25" b="0" i="0" u="none" strike="noStrike" kern="1200" baseline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48650112"/>
        <c:crosses val="autoZero"/>
        <c:crossBetween val="between"/>
        <c:majorUnit val="50"/>
      </c:valAx>
      <c:spPr>
        <a:noFill/>
        <a:ln w="0">
          <a:solidFill>
            <a:srgbClr val="111D2C"/>
          </a:solidFill>
          <a:prstDash val="solid"/>
        </a:ln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defRPr>
          </a:pPr>
        </a:p>
      </c:txPr>
    </c:legend>
    <c:plotVisOnly val="1"/>
    <c:dispBlanksAs val="gap"/>
    <c:showDLblsOverMax val="0"/>
  </c:chart>
  <c:spPr>
    <a:solidFill>
      <a:srgbClr val="111D2C"/>
    </a:solidFill>
    <a:ln w="0">
      <a:solidFill>
        <a:srgbClr val="111D2C"/>
      </a:solidFill>
      <a:prstDash val="solid"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MAE / W</c:f>
              <c:strCache>
                <c:ptCount val="1"/>
                <c:pt idx="0">
                  <c:v>MAE / W</c:v>
                </c:pt>
              </c:strCache>
            </c:strRef>
          </c:tx>
          <c:spPr>
            <a:solidFill>
              <a:srgbClr val="2F8CFF"/>
            </a:solidFill>
          </c:spPr>
          <c:invertIfNegative val="0"/>
          <c:dLbls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{"昨日同刻","LSTM","PatchTST"}</c:f>
              <c:strCache>
                <c:ptCount val="3"/>
                <c:pt idx="0">
                  <c:v>昨日同刻</c:v>
                </c:pt>
                <c:pt idx="1">
                  <c:v>LSTM</c:v>
                </c:pt>
                <c:pt idx="2">
                  <c:v>PatchTST</c:v>
                </c:pt>
              </c:strCache>
            </c:strRef>
          </c:cat>
          <c:val>
            <c:numRef>
              <c:f>{646.3,762.9,662.2}</c:f>
              <c:numCache>
                <c:formatCode>General</c:formatCode>
                <c:ptCount val="3"/>
                <c:pt idx="0">
                  <c:v>646.3</c:v>
                </c:pt>
                <c:pt idx="1">
                  <c:v>762.9</c:v>
                </c:pt>
                <c:pt idx="2">
                  <c:v>662.2</c:v>
                </c:pt>
              </c:numCache>
            </c:numRef>
          </c:val>
        </c:ser>
        <c:ser>
          <c:idx val="1"/>
          <c:order val="1"/>
          <c:tx>
            <c:strRef>
              <c:f>RMSE / W</c:f>
              <c:strCache>
                <c:ptCount val="1"/>
                <c:pt idx="0">
                  <c:v>RMSE / W</c:v>
                </c:pt>
              </c:strCache>
            </c:strRef>
          </c:tx>
          <c:spPr>
            <a:solidFill>
              <a:srgbClr val="53D7FF"/>
            </a:solidFill>
          </c:spPr>
          <c:invertIfNegative val="0"/>
          <c:dLbls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{"昨日同刻","LSTM","PatchTST"}</c:f>
              <c:strCache>
                <c:ptCount val="3"/>
                <c:pt idx="0">
                  <c:v>昨日同刻</c:v>
                </c:pt>
                <c:pt idx="1">
                  <c:v>LSTM</c:v>
                </c:pt>
                <c:pt idx="2">
                  <c:v>PatchTST</c:v>
                </c:pt>
              </c:strCache>
            </c:strRef>
          </c:cat>
          <c:val>
            <c:numRef>
              <c:f>{1052.6,923.9,875.3}</c:f>
              <c:numCache>
                <c:formatCode>General</c:formatCode>
                <c:ptCount val="3"/>
                <c:pt idx="0">
                  <c:v>1052.6</c:v>
                </c:pt>
                <c:pt idx="1">
                  <c:v>923.9</c:v>
                </c:pt>
                <c:pt idx="2">
                  <c:v>875.3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293A4F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1200"/>
          <c:min val="0"/>
        </c:scaling>
        <c:delete val="0"/>
        <c:axPos val="l"/>
        <c:majorGridlines>
          <c:spPr>
            <a:ln w="9525">
              <a:solidFill>
                <a:srgbClr val="293A4F"/>
              </a:solidFill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extTo"/>
        <c:spPr>
          <a:ln w="0">
            <a:solidFill>
              <a:srgbClr val="111D2C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25" b="0" i="0" u="none" strike="noStrike" kern="1200" baseline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48650112"/>
        <c:crosses val="autoZero"/>
        <c:crossBetween val="between"/>
        <c:majorUnit val="200"/>
      </c:valAx>
      <c:spPr>
        <a:noFill/>
        <a:ln w="0">
          <a:solidFill>
            <a:srgbClr val="111D2C"/>
          </a:solidFill>
          <a:prstDash val="solid"/>
        </a:ln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defRPr>
          </a:pPr>
        </a:p>
      </c:txPr>
    </c:legend>
    <c:plotVisOnly val="1"/>
    <c:dispBlanksAs val="gap"/>
    <c:showDLblsOverMax val="0"/>
  </c:chart>
  <c:spPr>
    <a:solidFill>
      <a:srgbClr val="111D2C"/>
    </a:solidFill>
    <a:ln w="0">
      <a:solidFill>
        <a:srgbClr val="111D2C"/>
      </a:solidFill>
      <a:prstDash val="solid"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2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9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1" name="图片 10"/>
          <p:cNvPicPr>
            <a:picLocks noChangeAspect="1"/>
          </p:cNvPicPr>
          <p:nvPr/>
        </p:nvPicPr>
        <p:blipFill>
          <a:blip r:embed="rId1"/>
          <a:srcRect l="22109" r="22109"/>
          <a:stretch>
            <a:fillRect/>
          </a:stretch>
        </p:blipFill>
        <p:spPr>
          <a:xfrm>
            <a:off x="5391150" y="0"/>
            <a:ext cx="680085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5810250" cy="6858000"/>
          </a:xfrm>
          <a:prstGeom prst="rect">
            <a:avLst/>
          </a:prstGeom>
          <a:solidFill>
            <a:srgbClr val="07101D"/>
          </a:solidFill>
          <a:ln w="0">
            <a:solidFill>
              <a:srgbClr val="07101D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257800" y="0"/>
            <a:ext cx="133350" cy="6858000"/>
          </a:xfrm>
          <a:prstGeom prst="rect">
            <a:avLst/>
          </a:prstGeom>
          <a:solidFill>
            <a:srgbClr val="2F8CFF"/>
          </a:solidFill>
          <a:ln w="0">
            <a:solidFill>
              <a:srgbClr val="2F8CFF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666750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《电力人工智能综合实训》</a:t>
            </a:r>
            <a:endParaRPr sz="1350" b="1">
              <a:solidFill>
                <a:srgbClr val="53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33400" y="1504950"/>
            <a:ext cx="44767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42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42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PowerInsight</a:t>
            </a:r>
            <a:endParaRPr sz="420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33400" y="2419350"/>
            <a:ext cx="42862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950" b="1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家庭用电分析 · 预测 · 预警 · 智能建议</a:t>
            </a:r>
            <a:endParaRPr sz="1950" b="1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33400" y="3333750"/>
            <a:ext cx="4000500" cy="38100"/>
          </a:xfrm>
          <a:prstGeom prst="rect">
            <a:avLst/>
          </a:prstGeom>
          <a:solidFill>
            <a:srgbClr val="2F8CFF"/>
          </a:solidFill>
          <a:ln w="0">
            <a:solidFill>
              <a:srgbClr val="2F8CFF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533400" y="3638550"/>
            <a:ext cx="4095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0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基于 UCI 家庭用电数据的可复现智能分析系统</a:t>
            </a:r>
            <a:endParaRPr sz="1575" b="0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533400" y="4972050"/>
            <a:ext cx="40957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队伍：小组 xx</a:t>
            </a:r>
            <a:endParaRPr sz="135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3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组长：小组组长</a:t>
            </a:r>
            <a:endParaRPr sz="135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3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成员：小组成员1 / 小组成员2 / 小组成员4</a:t>
            </a:r>
            <a:endParaRPr sz="135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33400" y="6334125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答辩展示 · 最终版</a:t>
            </a:r>
            <a:endParaRPr sz="900" b="1">
              <a:solidFill>
                <a:srgbClr val="53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0" name="矩形 29"/>
          <p:cNvSpPr>
            <a:spLocks noGrp="1"/>
          </p:cNvSpPr>
          <p:nvPr/>
        </p:nvSpPr>
        <p:spPr>
          <a:xfrm>
            <a:off x="457200" y="266700"/>
            <a:ext cx="4572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POWERINSIGHT / 课程答辩</a:t>
            </a:r>
            <a:endParaRPr sz="900" b="1">
              <a:solidFill>
                <a:srgbClr val="53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57200" y="53340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为什么做：把分钟级用电数据变成可演示的决策闭环</a:t>
            </a:r>
            <a:endParaRPr sz="255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57200" y="1133475"/>
            <a:ext cx="11277600" cy="9525"/>
          </a:xfrm>
          <a:prstGeom prst="rect">
            <a:avLst/>
          </a:prstGeom>
          <a:solidFill>
            <a:srgbClr val="293A4F"/>
          </a:solidFill>
          <a:ln w="0">
            <a:solidFill>
              <a:srgbClr val="293A4F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315700" y="6438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82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2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82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457200" y="1466850"/>
            <a:ext cx="3524250" cy="2571750"/>
          </a:xfrm>
          <a:prstGeom prst="roundRect">
            <a:avLst>
              <a:gd name="adj" fmla="val 2963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685800" y="1695450"/>
            <a:ext cx="304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2F8C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2F8C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数据难点</a:t>
            </a:r>
            <a:endParaRPr sz="1350" b="1">
              <a:solidFill>
                <a:srgbClr val="2F8C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85800" y="2200275"/>
            <a:ext cx="304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2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260,640 行分钟记录</a:t>
            </a:r>
            <a:endParaRPr sz="225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85800" y="2914650"/>
            <a:ext cx="30289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缺失段、时间连续性与15分钟聚合必须可复现</a:t>
            </a:r>
            <a:endParaRPr sz="135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4248150" y="1466850"/>
            <a:ext cx="3524250" cy="2571750"/>
          </a:xfrm>
          <a:prstGeom prst="roundRect">
            <a:avLst>
              <a:gd name="adj" fmla="val 2963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4476750" y="1695450"/>
            <a:ext cx="304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算法难点</a:t>
            </a:r>
            <a:endParaRPr sz="1350" b="1">
              <a:solidFill>
                <a:srgbClr val="53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476750" y="2200275"/>
            <a:ext cx="304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2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672 点 → 96 点</a:t>
            </a:r>
            <a:endParaRPr sz="225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476750" y="2914650"/>
            <a:ext cx="30289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统一切分比较季节基线、LSTM 与 PatchTST</a:t>
            </a:r>
            <a:endParaRPr sz="135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8039100" y="1466850"/>
            <a:ext cx="3524250" cy="2571750"/>
          </a:xfrm>
          <a:prstGeom prst="roundRect">
            <a:avLst>
              <a:gd name="adj" fmla="val 2963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8267700" y="1695450"/>
            <a:ext cx="304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42D39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42D39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应用难点</a:t>
            </a:r>
            <a:endParaRPr sz="1350" b="1">
              <a:solidFill>
                <a:srgbClr val="42D39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267700" y="2200275"/>
            <a:ext cx="304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2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预测 → 预警 → 建议</a:t>
            </a:r>
            <a:endParaRPr sz="225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267700" y="2914650"/>
            <a:ext cx="30289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页面需要能播放、能解释、能导出并适合答辩</a:t>
            </a:r>
            <a:endParaRPr sz="135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457200" y="436245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endParaRPr sz="150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5044440" y="5048250"/>
            <a:ext cx="266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1">
                <a:solidFill>
                  <a:srgbClr val="0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0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小组成员1 25%</a:t>
            </a:r>
            <a:endParaRPr sz="1200" b="1">
              <a:solidFill>
                <a:srgbClr val="07101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7863840" y="5048250"/>
            <a:ext cx="266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1">
                <a:solidFill>
                  <a:srgbClr val="0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0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组成员2 25%</a:t>
            </a:r>
            <a:endParaRPr sz="1200" b="1">
              <a:solidFill>
                <a:srgbClr val="07101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10683240" y="5048250"/>
            <a:ext cx="97536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>
                <a:solidFill>
                  <a:srgbClr val="0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0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小成员4 1%</a:t>
            </a:r>
            <a:endParaRPr sz="900" b="1">
              <a:solidFill>
                <a:srgbClr val="07101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457200" y="558165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0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endParaRPr sz="105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4" name="矩形 33"/>
          <p:cNvSpPr>
            <a:spLocks noGrp="1"/>
          </p:cNvSpPr>
          <p:nvPr/>
        </p:nvSpPr>
        <p:spPr>
          <a:xfrm>
            <a:off x="457200" y="266700"/>
            <a:ext cx="4572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POWERINSIGHT / 课程答辩</a:t>
            </a:r>
            <a:endParaRPr sz="900" b="1">
              <a:solidFill>
                <a:srgbClr val="53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57200" y="53340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数据基础：6个月分钟记录压缩成17,376个15分钟点</a:t>
            </a:r>
            <a:endParaRPr sz="255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57200" y="1133475"/>
            <a:ext cx="11277600" cy="9525"/>
          </a:xfrm>
          <a:prstGeom prst="rect">
            <a:avLst/>
          </a:prstGeom>
          <a:solidFill>
            <a:srgbClr val="293A4F"/>
          </a:solidFill>
          <a:ln w="0">
            <a:solidFill>
              <a:srgbClr val="293A4F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315700" y="6438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82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2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82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457200" y="1390650"/>
            <a:ext cx="2571750" cy="1295400"/>
          </a:xfrm>
          <a:prstGeom prst="roundRect">
            <a:avLst>
              <a:gd name="adj" fmla="val 5882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457200" y="1390650"/>
            <a:ext cx="57150" cy="1295400"/>
          </a:xfrm>
          <a:prstGeom prst="rect">
            <a:avLst/>
          </a:prstGeom>
          <a:solidFill>
            <a:srgbClr val="2F8CFF"/>
          </a:solidFill>
          <a:ln w="0">
            <a:solidFill>
              <a:srgbClr val="2F8CFF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85800" y="1600200"/>
            <a:ext cx="2171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260,640</a:t>
            </a:r>
            <a:endParaRPr sz="255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85800" y="2171700"/>
            <a:ext cx="2171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原始分钟记录</a:t>
            </a:r>
            <a:endParaRPr sz="12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3200400" y="1390650"/>
            <a:ext cx="2571750" cy="1295400"/>
          </a:xfrm>
          <a:prstGeom prst="roundRect">
            <a:avLst>
              <a:gd name="adj" fmla="val 5882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3200400" y="1390650"/>
            <a:ext cx="57150" cy="1295400"/>
          </a:xfrm>
          <a:prstGeom prst="rect">
            <a:avLst/>
          </a:prstGeom>
          <a:solidFill>
            <a:srgbClr val="53D7FF"/>
          </a:solidFill>
          <a:ln w="0">
            <a:solidFill>
              <a:srgbClr val="53D7FF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3429000" y="1600200"/>
            <a:ext cx="2171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17,376</a:t>
            </a:r>
            <a:endParaRPr sz="255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3429000" y="2171700"/>
            <a:ext cx="2171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15分钟聚合点</a:t>
            </a:r>
            <a:endParaRPr sz="12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5943600" y="1390650"/>
            <a:ext cx="2571750" cy="1295400"/>
          </a:xfrm>
          <a:prstGeom prst="roundRect">
            <a:avLst>
              <a:gd name="adj" fmla="val 5882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5943600" y="1390650"/>
            <a:ext cx="57150" cy="1295400"/>
          </a:xfrm>
          <a:prstGeom prst="rect">
            <a:avLst/>
          </a:prstGeom>
          <a:solidFill>
            <a:srgbClr val="42D392"/>
          </a:solidFill>
          <a:ln w="0">
            <a:solidFill>
              <a:srgbClr val="42D392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172200" y="1600200"/>
            <a:ext cx="2171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98.567%</a:t>
            </a:r>
            <a:endParaRPr sz="255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172200" y="2171700"/>
            <a:ext cx="2171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有效覆盖率</a:t>
            </a:r>
            <a:endParaRPr sz="12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8686800" y="1390650"/>
            <a:ext cx="3048000" cy="1295400"/>
          </a:xfrm>
          <a:prstGeom prst="roundRect">
            <a:avLst>
              <a:gd name="adj" fmla="val 5882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8686800" y="1390650"/>
            <a:ext cx="57150" cy="1295400"/>
          </a:xfrm>
          <a:prstGeom prst="rect">
            <a:avLst/>
          </a:prstGeom>
          <a:solidFill>
            <a:srgbClr val="F4C95D"/>
          </a:solidFill>
          <a:ln w="0">
            <a:solidFill>
              <a:srgbClr val="F4C95D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8915400" y="1600200"/>
            <a:ext cx="26479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 段</a:t>
            </a:r>
            <a:endParaRPr sz="255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8915400" y="2171700"/>
            <a:ext cx="2647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原始缺失段</a:t>
            </a:r>
            <a:endParaRPr sz="12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915400" y="2276475"/>
            <a:ext cx="2647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75" b="0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最长 3,723 分钟</a:t>
            </a:r>
            <a:endParaRPr sz="975" b="0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圆角矩形 21"/>
          <p:cNvSpPr>
            <a:spLocks noGrp="1"/>
          </p:cNvSpPr>
          <p:nvPr/>
        </p:nvSpPr>
        <p:spPr>
          <a:xfrm>
            <a:off x="457200" y="2990850"/>
            <a:ext cx="7086600" cy="3086100"/>
          </a:xfrm>
          <a:prstGeom prst="roundRect">
            <a:avLst>
              <a:gd name="adj" fmla="val 2469"/>
            </a:avLst>
          </a:prstGeom>
          <a:solidFill>
            <a:srgbClr val="0B1421"/>
          </a:solidFill>
          <a:ln w="9525">
            <a:solidFill>
              <a:srgbClr val="293A4F"/>
            </a:solidFill>
            <a:prstDash val="solid"/>
          </a:ln>
        </p:spPr>
      </p:sp>
      <p:pic>
        <p:nvPicPr>
          <p:cNvPr id="56" name="图片 5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4367" y="3124200"/>
            <a:ext cx="5012267" cy="2819400"/>
          </a:xfrm>
          <a:prstGeom prst="roundRect">
            <a:avLst/>
          </a:prstGeom>
        </p:spPr>
      </p:pic>
      <p:sp>
        <p:nvSpPr>
          <p:cNvPr id="24" name="圆角矩形 23"/>
          <p:cNvSpPr>
            <a:spLocks noGrp="1"/>
          </p:cNvSpPr>
          <p:nvPr/>
        </p:nvSpPr>
        <p:spPr>
          <a:xfrm>
            <a:off x="7772400" y="2990850"/>
            <a:ext cx="3962400" cy="3086100"/>
          </a:xfrm>
          <a:prstGeom prst="roundRect">
            <a:avLst>
              <a:gd name="adj" fmla="val 2469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8039100" y="3257550"/>
            <a:ext cx="3238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725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处理规则</a:t>
            </a:r>
            <a:endParaRPr sz="1725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椭圆 25"/>
          <p:cNvSpPr>
            <a:spLocks noGrp="1"/>
          </p:cNvSpPr>
          <p:nvPr/>
        </p:nvSpPr>
        <p:spPr>
          <a:xfrm>
            <a:off x="8039100" y="3876675"/>
            <a:ext cx="76200" cy="76200"/>
          </a:xfrm>
          <a:prstGeom prst="ellipse">
            <a:avLst/>
          </a:prstGeom>
          <a:solidFill>
            <a:srgbClr val="53D7FF"/>
          </a:solidFill>
          <a:ln w="0">
            <a:solidFill>
              <a:srgbClr val="53D7FF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8229600" y="3790950"/>
            <a:ext cx="3143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短缺失不超过60分钟：连续段内插值，共48行</a:t>
            </a:r>
            <a:endParaRPr sz="1275" b="0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椭圆 27"/>
          <p:cNvSpPr>
            <a:spLocks noGrp="1"/>
          </p:cNvSpPr>
          <p:nvPr/>
        </p:nvSpPr>
        <p:spPr>
          <a:xfrm>
            <a:off x="8039100" y="4371975"/>
            <a:ext cx="76200" cy="76200"/>
          </a:xfrm>
          <a:prstGeom prst="ellipse">
            <a:avLst/>
          </a:prstGeom>
          <a:solidFill>
            <a:srgbClr val="53D7FF"/>
          </a:solidFill>
          <a:ln w="0">
            <a:solidFill>
              <a:srgbClr val="53D7FF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8229600" y="4286250"/>
            <a:ext cx="3143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长缺失保留掩码：不跨段插值、不伪造连续样本</a:t>
            </a:r>
            <a:endParaRPr sz="1275" b="0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椭圆 29"/>
          <p:cNvSpPr>
            <a:spLocks noGrp="1"/>
          </p:cNvSpPr>
          <p:nvPr/>
        </p:nvSpPr>
        <p:spPr>
          <a:xfrm>
            <a:off x="8039100" y="4867275"/>
            <a:ext cx="76200" cy="76200"/>
          </a:xfrm>
          <a:prstGeom prst="ellipse">
            <a:avLst/>
          </a:prstGeom>
          <a:solidFill>
            <a:srgbClr val="53D7FF"/>
          </a:solidFill>
          <a:ln w="0">
            <a:solidFill>
              <a:srgbClr val="53D7FF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8229600" y="4781550"/>
            <a:ext cx="3143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每个15分钟桶至少80%有效分钟</a:t>
            </a:r>
            <a:endParaRPr sz="1275" b="0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椭圆 31"/>
          <p:cNvSpPr>
            <a:spLocks noGrp="1"/>
          </p:cNvSpPr>
          <p:nvPr/>
        </p:nvSpPr>
        <p:spPr>
          <a:xfrm>
            <a:off x="8039100" y="5362575"/>
            <a:ext cx="76200" cy="76200"/>
          </a:xfrm>
          <a:prstGeom prst="ellipse">
            <a:avLst/>
          </a:prstGeom>
          <a:solidFill>
            <a:srgbClr val="53D7FF"/>
          </a:solidFill>
          <a:ln w="0">
            <a:solidFill>
              <a:srgbClr val="53D7FF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8229600" y="5276850"/>
            <a:ext cx="3143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固定月份切分：1-4月训练，5月验证，6月测试</a:t>
            </a:r>
            <a:endParaRPr sz="1275" b="0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9" name="矩形 38"/>
          <p:cNvSpPr>
            <a:spLocks noGrp="1"/>
          </p:cNvSpPr>
          <p:nvPr/>
        </p:nvSpPr>
        <p:spPr>
          <a:xfrm>
            <a:off x="457200" y="266700"/>
            <a:ext cx="4572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POWERINSIGHT / 课程答辩</a:t>
            </a:r>
            <a:endParaRPr sz="900" b="1">
              <a:solidFill>
                <a:srgbClr val="53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57200" y="53340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系统架构：数据、算法、服务与展示四层闭环</a:t>
            </a:r>
            <a:endParaRPr sz="255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57200" y="1133475"/>
            <a:ext cx="11277600" cy="9525"/>
          </a:xfrm>
          <a:prstGeom prst="rect">
            <a:avLst/>
          </a:prstGeom>
          <a:solidFill>
            <a:srgbClr val="293A4F"/>
          </a:solidFill>
          <a:ln w="0">
            <a:solidFill>
              <a:srgbClr val="293A4F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315700" y="6438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82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2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</a:t>
            </a:r>
            <a:endParaRPr sz="82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457200" y="2133600"/>
            <a:ext cx="1885950" cy="2057400"/>
          </a:xfrm>
          <a:prstGeom prst="roundRect">
            <a:avLst>
              <a:gd name="adj" fmla="val 4040"/>
            </a:avLst>
          </a:prstGeom>
          <a:solidFill>
            <a:srgbClr val="111D2C"/>
          </a:solidFill>
          <a:ln w="9525">
            <a:solidFill>
              <a:srgbClr val="2F8CFF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647700" y="23431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1">
                <a:solidFill>
                  <a:srgbClr val="2F8C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2F8C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  <a:endParaRPr sz="1200" b="1">
              <a:solidFill>
                <a:srgbClr val="2F8C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47700" y="2781300"/>
            <a:ext cx="1504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公开数据</a:t>
            </a:r>
            <a:endParaRPr sz="180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47700" y="3352800"/>
            <a:ext cx="15049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UCI 原始分钟记录</a:t>
            </a:r>
            <a:endParaRPr sz="120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0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CSV / manifest</a:t>
            </a:r>
            <a:endParaRPr sz="120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2343150" y="2914650"/>
            <a:ext cx="4000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225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2250" b="1">
              <a:solidFill>
                <a:srgbClr val="53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2724150" y="2133600"/>
            <a:ext cx="1885950" cy="2057400"/>
          </a:xfrm>
          <a:prstGeom prst="roundRect">
            <a:avLst>
              <a:gd name="adj" fmla="val 4040"/>
            </a:avLst>
          </a:prstGeom>
          <a:solidFill>
            <a:srgbClr val="111D2C"/>
          </a:solidFill>
          <a:ln w="9525">
            <a:solidFill>
              <a:srgbClr val="53D7FF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914650" y="23431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1200" b="1">
              <a:solidFill>
                <a:srgbClr val="53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914650" y="2781300"/>
            <a:ext cx="1504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数据处理</a:t>
            </a:r>
            <a:endParaRPr sz="180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2914650" y="3352800"/>
            <a:ext cx="15049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校验 · 缺失保护</a:t>
            </a:r>
            <a:endParaRPr sz="120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0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15分钟聚合</a:t>
            </a:r>
            <a:endParaRPr sz="120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4610100" y="2914650"/>
            <a:ext cx="4000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225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2250" b="1">
              <a:solidFill>
                <a:srgbClr val="53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4991100" y="2133600"/>
            <a:ext cx="1885950" cy="2057400"/>
          </a:xfrm>
          <a:prstGeom prst="roundRect">
            <a:avLst>
              <a:gd name="adj" fmla="val 4040"/>
            </a:avLst>
          </a:prstGeom>
          <a:solidFill>
            <a:srgbClr val="111D2C"/>
          </a:solidFill>
          <a:ln w="9525">
            <a:solidFill>
              <a:srgbClr val="42D392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5181600" y="23431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1">
                <a:solidFill>
                  <a:srgbClr val="42D39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42D39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1200" b="1">
              <a:solidFill>
                <a:srgbClr val="42D39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5181600" y="2781300"/>
            <a:ext cx="1504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分析与模型</a:t>
            </a:r>
            <a:endParaRPr sz="180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5181600" y="3352800"/>
            <a:ext cx="15049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历史KPI · 672→96</a:t>
            </a:r>
            <a:endParaRPr sz="120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0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基线 / LSTM / PatchTST</a:t>
            </a:r>
            <a:endParaRPr sz="120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6877050" y="2914650"/>
            <a:ext cx="4000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225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2250" b="1">
              <a:solidFill>
                <a:srgbClr val="53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7258050" y="2133600"/>
            <a:ext cx="1885950" cy="2057400"/>
          </a:xfrm>
          <a:prstGeom prst="roundRect">
            <a:avLst>
              <a:gd name="adj" fmla="val 4040"/>
            </a:avLst>
          </a:prstGeom>
          <a:solidFill>
            <a:srgbClr val="111D2C"/>
          </a:solidFill>
          <a:ln w="9525">
            <a:solidFill>
              <a:srgbClr val="F4C95D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7448550" y="23431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</a:t>
            </a:r>
            <a:endParaRPr sz="1200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7448550" y="2781300"/>
            <a:ext cx="1504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业务服务</a:t>
            </a:r>
            <a:endParaRPr sz="180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7448550" y="3352800"/>
            <a:ext cx="15049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预测区间 · 预警</a:t>
            </a:r>
            <a:endParaRPr sz="120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0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智能建议与导出</a:t>
            </a:r>
            <a:endParaRPr sz="120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9144000" y="2914650"/>
            <a:ext cx="4000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225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2250" b="1">
              <a:solidFill>
                <a:srgbClr val="53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圆角矩形 24"/>
          <p:cNvSpPr>
            <a:spLocks noGrp="1"/>
          </p:cNvSpPr>
          <p:nvPr/>
        </p:nvSpPr>
        <p:spPr>
          <a:xfrm>
            <a:off x="9525000" y="2133600"/>
            <a:ext cx="1885950" cy="2057400"/>
          </a:xfrm>
          <a:prstGeom prst="roundRect">
            <a:avLst>
              <a:gd name="adj" fmla="val 4040"/>
            </a:avLst>
          </a:prstGeom>
          <a:solidFill>
            <a:srgbClr val="111D2C"/>
          </a:solidFill>
          <a:ln w="9525">
            <a:solidFill>
              <a:srgbClr val="FF6B6B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9715500" y="23431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1">
                <a:solidFill>
                  <a:srgbClr val="FF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FF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</a:t>
            </a:r>
            <a:endParaRPr sz="1200" b="1">
              <a:solidFill>
                <a:srgbClr val="FF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9715500" y="2781300"/>
            <a:ext cx="1504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七页应用</a:t>
            </a:r>
            <a:endParaRPr sz="180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9715500" y="3352800"/>
            <a:ext cx="15049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Streamlit 交互</a:t>
            </a:r>
            <a:endParaRPr sz="120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0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BAT 一键启动</a:t>
            </a:r>
            <a:endParaRPr sz="120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457200" y="4686300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工程原则</a:t>
            </a:r>
            <a:endParaRPr sz="150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圆角矩形 29"/>
          <p:cNvSpPr>
            <a:spLocks noGrp="1"/>
          </p:cNvSpPr>
          <p:nvPr/>
        </p:nvSpPr>
        <p:spPr>
          <a:xfrm>
            <a:off x="457200" y="5143500"/>
            <a:ext cx="3524250" cy="876300"/>
          </a:xfrm>
          <a:prstGeom prst="roundRect">
            <a:avLst>
              <a:gd name="adj" fmla="val 8696"/>
            </a:avLst>
          </a:prstGeom>
          <a:solidFill>
            <a:srgbClr val="16263A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628650" y="530542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结果可复现</a:t>
            </a:r>
            <a:endParaRPr sz="1275" b="1">
              <a:solidFill>
                <a:srgbClr val="53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628650" y="5600700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0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固定数据切分、冻结模型产物、统一测试起点</a:t>
            </a:r>
            <a:endParaRPr sz="105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圆角矩形 32"/>
          <p:cNvSpPr>
            <a:spLocks noGrp="1"/>
          </p:cNvSpPr>
          <p:nvPr/>
        </p:nvSpPr>
        <p:spPr>
          <a:xfrm>
            <a:off x="4248150" y="5143500"/>
            <a:ext cx="3524250" cy="876300"/>
          </a:xfrm>
          <a:prstGeom prst="roundRect">
            <a:avLst>
              <a:gd name="adj" fmla="val 8696"/>
            </a:avLst>
          </a:prstGeom>
          <a:solidFill>
            <a:srgbClr val="16263A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4419600" y="530542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链路可降级</a:t>
            </a:r>
            <a:endParaRPr sz="1275" b="1">
              <a:solidFill>
                <a:srgbClr val="53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4419600" y="5600700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0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核心分析可本地运行，外部服务异常明确提示</a:t>
            </a:r>
            <a:endParaRPr sz="105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圆角矩形 35"/>
          <p:cNvSpPr>
            <a:spLocks noGrp="1"/>
          </p:cNvSpPr>
          <p:nvPr/>
        </p:nvSpPr>
        <p:spPr>
          <a:xfrm>
            <a:off x="8039100" y="5143500"/>
            <a:ext cx="3524250" cy="876300"/>
          </a:xfrm>
          <a:prstGeom prst="roundRect">
            <a:avLst>
              <a:gd name="adj" fmla="val 8696"/>
            </a:avLst>
          </a:prstGeom>
          <a:solidFill>
            <a:srgbClr val="16263A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8210550" y="530542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答辩可验证</a:t>
            </a:r>
            <a:endParaRPr sz="1275" b="1">
              <a:solidFill>
                <a:srgbClr val="53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8210550" y="5600700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0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截图来自最终代码，播放与导出均真实操作</a:t>
            </a:r>
            <a:endParaRPr sz="105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7" name="矩形 26"/>
          <p:cNvSpPr>
            <a:spLocks noGrp="1"/>
          </p:cNvSpPr>
          <p:nvPr/>
        </p:nvSpPr>
        <p:spPr>
          <a:xfrm>
            <a:off x="457200" y="266700"/>
            <a:ext cx="4572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POWERINSIGHT / 课程答辩</a:t>
            </a:r>
            <a:endParaRPr sz="900" b="1">
              <a:solidFill>
                <a:srgbClr val="53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57200" y="53340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历史用电分析：先验证数据规律，再进入模型</a:t>
            </a:r>
            <a:endParaRPr sz="255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57200" y="1133475"/>
            <a:ext cx="11277600" cy="9525"/>
          </a:xfrm>
          <a:prstGeom prst="rect">
            <a:avLst/>
          </a:prstGeom>
          <a:solidFill>
            <a:srgbClr val="293A4F"/>
          </a:solidFill>
          <a:ln w="0">
            <a:solidFill>
              <a:srgbClr val="293A4F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315700" y="6438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82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2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</a:t>
            </a:r>
            <a:endParaRPr sz="82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457200" y="1428750"/>
            <a:ext cx="6896100" cy="4610100"/>
          </a:xfrm>
          <a:prstGeom prst="roundRect">
            <a:avLst>
              <a:gd name="adj" fmla="val 1653"/>
            </a:avLst>
          </a:prstGeom>
          <a:solidFill>
            <a:srgbClr val="0B1421"/>
          </a:solidFill>
          <a:ln w="9525">
            <a:solidFill>
              <a:srgbClr val="293A4F"/>
            </a:solidFill>
            <a:prstDash val="solid"/>
          </a:ln>
        </p:spPr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550" y="1869281"/>
            <a:ext cx="6629400" cy="3729038"/>
          </a:xfrm>
          <a:prstGeom prst="roundRect">
            <a:avLst/>
          </a:prstGeom>
        </p:spPr>
      </p:pic>
      <p:sp>
        <p:nvSpPr>
          <p:cNvPr id="7" name="圆角矩形 6"/>
          <p:cNvSpPr>
            <a:spLocks noGrp="1"/>
          </p:cNvSpPr>
          <p:nvPr/>
        </p:nvSpPr>
        <p:spPr>
          <a:xfrm>
            <a:off x="7639050" y="1428750"/>
            <a:ext cx="4095750" cy="1047750"/>
          </a:xfrm>
          <a:prstGeom prst="roundRect">
            <a:avLst>
              <a:gd name="adj" fmla="val 7273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639050" y="1428750"/>
            <a:ext cx="57150" cy="1047750"/>
          </a:xfrm>
          <a:prstGeom prst="rect">
            <a:avLst/>
          </a:prstGeom>
          <a:solidFill>
            <a:srgbClr val="2F8CFF"/>
          </a:solidFill>
          <a:ln w="0">
            <a:solidFill>
              <a:srgbClr val="2F8CFF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7867650" y="1638300"/>
            <a:ext cx="3695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4,988.285 kWh</a:t>
            </a:r>
            <a:endParaRPr sz="255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867650" y="2209800"/>
            <a:ext cx="3695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累计有功电量</a:t>
            </a:r>
            <a:endParaRPr sz="12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7639050" y="2647950"/>
            <a:ext cx="1943100" cy="1047750"/>
          </a:xfrm>
          <a:prstGeom prst="roundRect">
            <a:avLst>
              <a:gd name="adj" fmla="val 7273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7639050" y="2647950"/>
            <a:ext cx="57150" cy="1047750"/>
          </a:xfrm>
          <a:prstGeom prst="rect">
            <a:avLst/>
          </a:prstGeom>
          <a:solidFill>
            <a:srgbClr val="53D7FF"/>
          </a:solidFill>
          <a:ln w="0">
            <a:solidFill>
              <a:srgbClr val="53D7FF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7867650" y="2857500"/>
            <a:ext cx="15430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1.1650</a:t>
            </a:r>
            <a:endParaRPr sz="255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867650" y="342900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平均功率 / kW</a:t>
            </a:r>
            <a:endParaRPr sz="12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9791700" y="2647950"/>
            <a:ext cx="1943100" cy="1047750"/>
          </a:xfrm>
          <a:prstGeom prst="roundRect">
            <a:avLst>
              <a:gd name="adj" fmla="val 7273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9791700" y="2647950"/>
            <a:ext cx="57150" cy="1047750"/>
          </a:xfrm>
          <a:prstGeom prst="rect">
            <a:avLst/>
          </a:prstGeom>
          <a:solidFill>
            <a:srgbClr val="F4C95D"/>
          </a:solidFill>
          <a:ln w="0">
            <a:solidFill>
              <a:srgbClr val="F4C95D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10020300" y="2857500"/>
            <a:ext cx="15430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8.2311</a:t>
            </a:r>
            <a:endParaRPr sz="255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10020300" y="342900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峰值功率 / kW</a:t>
            </a:r>
            <a:endParaRPr sz="12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圆角矩形 18"/>
          <p:cNvSpPr>
            <a:spLocks noGrp="1"/>
          </p:cNvSpPr>
          <p:nvPr/>
        </p:nvSpPr>
        <p:spPr>
          <a:xfrm>
            <a:off x="7639050" y="3886200"/>
            <a:ext cx="4095750" cy="2152650"/>
          </a:xfrm>
          <a:prstGeom prst="roundRect">
            <a:avLst>
              <a:gd name="adj" fmla="val 3540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7905750" y="41148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725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主要发现</a:t>
            </a:r>
            <a:endParaRPr sz="1725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椭圆 20"/>
          <p:cNvSpPr>
            <a:spLocks noGrp="1"/>
          </p:cNvSpPr>
          <p:nvPr/>
        </p:nvSpPr>
        <p:spPr>
          <a:xfrm>
            <a:off x="7905750" y="4657725"/>
            <a:ext cx="76200" cy="76200"/>
          </a:xfrm>
          <a:prstGeom prst="ellipse">
            <a:avLst/>
          </a:prstGeom>
          <a:solidFill>
            <a:srgbClr val="53D7FF"/>
          </a:solidFill>
          <a:ln w="0">
            <a:solidFill>
              <a:srgbClr val="53D7FF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8096250" y="457200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峰值出现在 2007-02-22 21:00</a:t>
            </a:r>
            <a:endParaRPr sz="1275" b="0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椭圆 22"/>
          <p:cNvSpPr>
            <a:spLocks noGrp="1"/>
          </p:cNvSpPr>
          <p:nvPr/>
        </p:nvSpPr>
        <p:spPr>
          <a:xfrm>
            <a:off x="7905750" y="5095875"/>
            <a:ext cx="76200" cy="76200"/>
          </a:xfrm>
          <a:prstGeom prst="ellipse">
            <a:avLst/>
          </a:prstGeom>
          <a:solidFill>
            <a:srgbClr val="53D7FF"/>
          </a:solidFill>
          <a:ln w="0">
            <a:solidFill>
              <a:srgbClr val="53D7FF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8096250" y="501015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负荷呈现稳定日内周期与晚间峰值</a:t>
            </a:r>
            <a:endParaRPr sz="1275" b="0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椭圆 24"/>
          <p:cNvSpPr>
            <a:spLocks noGrp="1"/>
          </p:cNvSpPr>
          <p:nvPr/>
        </p:nvSpPr>
        <p:spPr>
          <a:xfrm>
            <a:off x="7905750" y="5534025"/>
            <a:ext cx="76200" cy="76200"/>
          </a:xfrm>
          <a:prstGeom prst="ellipse">
            <a:avLst/>
          </a:prstGeom>
          <a:solidFill>
            <a:srgbClr val="53D7FF"/>
          </a:solidFill>
          <a:ln w="0">
            <a:solidFill>
              <a:srgbClr val="53D7FF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8096250" y="544830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11条负未分项记录保留原值，不强行修正</a:t>
            </a:r>
            <a:endParaRPr sz="1275" b="0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3" name="矩形 32"/>
          <p:cNvSpPr>
            <a:spLocks noGrp="1"/>
          </p:cNvSpPr>
          <p:nvPr/>
        </p:nvSpPr>
        <p:spPr>
          <a:xfrm>
            <a:off x="457200" y="266700"/>
            <a:ext cx="4572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POWERINSIGHT / 课程答辩</a:t>
            </a:r>
            <a:endParaRPr sz="900" b="1">
              <a:solidFill>
                <a:srgbClr val="53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57200" y="53340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预测任务：固定切分、统一窗口、同一测试起点</a:t>
            </a:r>
            <a:endParaRPr sz="255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57200" y="1133475"/>
            <a:ext cx="11277600" cy="9525"/>
          </a:xfrm>
          <a:prstGeom prst="rect">
            <a:avLst/>
          </a:prstGeom>
          <a:solidFill>
            <a:srgbClr val="293A4F"/>
          </a:solidFill>
          <a:ln w="0">
            <a:solidFill>
              <a:srgbClr val="293A4F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315700" y="6438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82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2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06</a:t>
            </a:r>
            <a:endParaRPr sz="82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457200" y="150495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65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监督式时间序列任务</a:t>
            </a:r>
            <a:endParaRPr sz="1650" b="1">
              <a:solidFill>
                <a:srgbClr val="53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457200" y="2038350"/>
            <a:ext cx="4095750" cy="1504950"/>
          </a:xfrm>
          <a:prstGeom prst="roundRect">
            <a:avLst>
              <a:gd name="adj" fmla="val 5063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81050" y="2266950"/>
            <a:ext cx="1143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3600" b="1">
                <a:solidFill>
                  <a:srgbClr val="2F8C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600" b="1">
                <a:solidFill>
                  <a:srgbClr val="2F8C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672</a:t>
            </a:r>
            <a:endParaRPr sz="3600" b="1">
              <a:solidFill>
                <a:srgbClr val="2F8C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62000" y="2886075"/>
            <a:ext cx="1238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过去7天</a:t>
            </a:r>
            <a:endParaRPr sz="12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15分钟历史点</a:t>
            </a:r>
            <a:endParaRPr sz="12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2076450" y="2505075"/>
            <a:ext cx="4000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225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2250" b="1">
              <a:solidFill>
                <a:srgbClr val="53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762250" y="2266950"/>
            <a:ext cx="1143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3600" b="1">
                <a:solidFill>
                  <a:srgbClr val="42D39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600" b="1">
                <a:solidFill>
                  <a:srgbClr val="42D39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96</a:t>
            </a:r>
            <a:endParaRPr sz="3600" b="1">
              <a:solidFill>
                <a:srgbClr val="42D39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2714625" y="2886075"/>
            <a:ext cx="1238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未来24小时</a:t>
            </a:r>
            <a:endParaRPr sz="12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逐点预测</a:t>
            </a:r>
            <a:endParaRPr sz="12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4857750" y="1504950"/>
            <a:ext cx="6877050" cy="2038350"/>
          </a:xfrm>
          <a:prstGeom prst="roundRect">
            <a:avLst>
              <a:gd name="adj" fmla="val 3738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5124450" y="175260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时间切分</a:t>
            </a:r>
            <a:endParaRPr sz="150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124450" y="2381250"/>
            <a:ext cx="3343275" cy="438150"/>
          </a:xfrm>
          <a:prstGeom prst="rect">
            <a:avLst/>
          </a:prstGeom>
          <a:solidFill>
            <a:srgbClr val="2F8CFF"/>
          </a:solidFill>
          <a:ln w="19050">
            <a:solidFill>
              <a:srgbClr val="07101D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5181600" y="2495550"/>
            <a:ext cx="32289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125" b="1">
                <a:solidFill>
                  <a:srgbClr val="0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0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训练集</a:t>
            </a:r>
            <a:endParaRPr sz="1125" b="1">
              <a:solidFill>
                <a:srgbClr val="07101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5124450" y="2952750"/>
            <a:ext cx="33432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2007.01-04</a:t>
            </a:r>
            <a:endParaRPr sz="9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467725" y="2381250"/>
            <a:ext cx="1423988" cy="438150"/>
          </a:xfrm>
          <a:prstGeom prst="rect">
            <a:avLst/>
          </a:prstGeom>
          <a:solidFill>
            <a:srgbClr val="53D7FF"/>
          </a:solidFill>
          <a:ln w="19050">
            <a:solidFill>
              <a:srgbClr val="07101D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8524875" y="2495550"/>
            <a:ext cx="1309688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125" b="1">
                <a:solidFill>
                  <a:srgbClr val="0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0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验证集</a:t>
            </a:r>
            <a:endParaRPr sz="1125" b="1">
              <a:solidFill>
                <a:srgbClr val="07101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8467725" y="2952750"/>
            <a:ext cx="142398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2007.05</a:t>
            </a:r>
            <a:endParaRPr sz="9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9891713" y="2381250"/>
            <a:ext cx="1423988" cy="438150"/>
          </a:xfrm>
          <a:prstGeom prst="rect">
            <a:avLst/>
          </a:prstGeom>
          <a:solidFill>
            <a:srgbClr val="42D392"/>
          </a:solidFill>
          <a:ln w="19050">
            <a:solidFill>
              <a:srgbClr val="07101D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9948863" y="2495550"/>
            <a:ext cx="1309688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125" b="1">
                <a:solidFill>
                  <a:srgbClr val="0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0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测试集</a:t>
            </a:r>
            <a:endParaRPr sz="1125" b="1">
              <a:solidFill>
                <a:srgbClr val="07101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9891713" y="2952750"/>
            <a:ext cx="142398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2007.06</a:t>
            </a:r>
            <a:endParaRPr sz="9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457200" y="398145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答辩主模型</a:t>
            </a:r>
            <a:endParaRPr sz="150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圆角矩形 23"/>
          <p:cNvSpPr>
            <a:spLocks noGrp="1"/>
          </p:cNvSpPr>
          <p:nvPr/>
        </p:nvSpPr>
        <p:spPr>
          <a:xfrm>
            <a:off x="457200" y="4438650"/>
            <a:ext cx="3524250" cy="1562100"/>
          </a:xfrm>
          <a:prstGeom prst="roundRect">
            <a:avLst>
              <a:gd name="adj" fmla="val 4878"/>
            </a:avLst>
          </a:prstGeom>
          <a:solidFill>
            <a:srgbClr val="111D2C"/>
          </a:solidFill>
          <a:ln w="9525">
            <a:solidFill>
              <a:srgbClr val="2F8CFF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685800" y="4667250"/>
            <a:ext cx="3048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75" b="1">
                <a:solidFill>
                  <a:srgbClr val="2F8C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2F8C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昨日同刻</a:t>
            </a:r>
            <a:endParaRPr sz="1875" b="1">
              <a:solidFill>
                <a:srgbClr val="2F8C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685800" y="5219700"/>
            <a:ext cx="304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强季节基线</a:t>
            </a:r>
            <a:endParaRPr sz="12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无需训练</a:t>
            </a:r>
            <a:endParaRPr sz="12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4248150" y="4438650"/>
            <a:ext cx="3524250" cy="1562100"/>
          </a:xfrm>
          <a:prstGeom prst="roundRect">
            <a:avLst>
              <a:gd name="adj" fmla="val 4878"/>
            </a:avLst>
          </a:prstGeom>
          <a:solidFill>
            <a:srgbClr val="111D2C"/>
          </a:solidFill>
          <a:ln w="9525">
            <a:solidFill>
              <a:srgbClr val="53D7FF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4476750" y="4667250"/>
            <a:ext cx="3048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75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LSTM</a:t>
            </a:r>
            <a:endParaRPr sz="1875" b="1">
              <a:solidFill>
                <a:srgbClr val="53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4476750" y="5219700"/>
            <a:ext cx="304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1层 · hidden 64</a:t>
            </a:r>
            <a:endParaRPr sz="12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3.425秒</a:t>
            </a:r>
            <a:endParaRPr sz="12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圆角矩形 29"/>
          <p:cNvSpPr>
            <a:spLocks noGrp="1"/>
          </p:cNvSpPr>
          <p:nvPr/>
        </p:nvSpPr>
        <p:spPr>
          <a:xfrm>
            <a:off x="8039100" y="4438650"/>
            <a:ext cx="3524250" cy="1562100"/>
          </a:xfrm>
          <a:prstGeom prst="roundRect">
            <a:avLst>
              <a:gd name="adj" fmla="val 4878"/>
            </a:avLst>
          </a:prstGeom>
          <a:solidFill>
            <a:srgbClr val="111D2C"/>
          </a:solidFill>
          <a:ln w="9525">
            <a:solidFill>
              <a:srgbClr val="42D392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8267700" y="4667250"/>
            <a:ext cx="3048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75" b="1">
                <a:solidFill>
                  <a:srgbClr val="42D39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42D39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PatchTST</a:t>
            </a:r>
            <a:endParaRPr sz="1875" b="1">
              <a:solidFill>
                <a:srgbClr val="42D39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8267700" y="5219700"/>
            <a:ext cx="304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patch 16 · 3层</a:t>
            </a:r>
            <a:endParaRPr sz="12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11.120秒</a:t>
            </a:r>
            <a:endParaRPr sz="12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7" name="矩形 26"/>
          <p:cNvSpPr>
            <a:spLocks noGrp="1"/>
          </p:cNvSpPr>
          <p:nvPr/>
        </p:nvSpPr>
        <p:spPr>
          <a:xfrm>
            <a:off x="457200" y="266700"/>
            <a:ext cx="4572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POWERINSIGHT / 课程答辩</a:t>
            </a:r>
            <a:endParaRPr sz="900" b="1">
              <a:solidFill>
                <a:srgbClr val="53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57200" y="53340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训练过程：第1轮最优，后续验证误差上升</a:t>
            </a:r>
            <a:endParaRPr sz="255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57200" y="1133475"/>
            <a:ext cx="11277600" cy="9525"/>
          </a:xfrm>
          <a:prstGeom prst="rect">
            <a:avLst/>
          </a:prstGeom>
          <a:solidFill>
            <a:srgbClr val="293A4F"/>
          </a:solidFill>
          <a:ln w="0">
            <a:solidFill>
              <a:srgbClr val="293A4F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315700" y="6438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82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2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07</a:t>
            </a:r>
            <a:endParaRPr sz="82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457200" y="1428750"/>
            <a:ext cx="6858000" cy="4629150"/>
          </a:xfrm>
          <a:prstGeom prst="roundRect">
            <a:avLst>
              <a:gd name="adj" fmla="val 1646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="704850" y="1752600"/>
          <a:ext cx="6362700" cy="39052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7" name="圆角矩形 6"/>
          <p:cNvSpPr>
            <a:spLocks noGrp="1"/>
          </p:cNvSpPr>
          <p:nvPr/>
        </p:nvSpPr>
        <p:spPr>
          <a:xfrm>
            <a:off x="7581900" y="1428750"/>
            <a:ext cx="4152900" cy="1276350"/>
          </a:xfrm>
          <a:prstGeom prst="roundRect">
            <a:avLst>
              <a:gd name="adj" fmla="val 5970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581900" y="1428750"/>
            <a:ext cx="57150" cy="1276350"/>
          </a:xfrm>
          <a:prstGeom prst="rect">
            <a:avLst/>
          </a:prstGeom>
          <a:solidFill>
            <a:srgbClr val="2F8CFF"/>
          </a:solidFill>
          <a:ln w="0">
            <a:solidFill>
              <a:srgbClr val="2F8CFF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7810500" y="1638300"/>
            <a:ext cx="37528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Epoch 1</a:t>
            </a:r>
            <a:endParaRPr sz="255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810500" y="2209800"/>
            <a:ext cx="3752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两模型最佳验证轮次</a:t>
            </a:r>
            <a:endParaRPr sz="12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7581900" y="2876550"/>
            <a:ext cx="2000250" cy="1276350"/>
          </a:xfrm>
          <a:prstGeom prst="roundRect">
            <a:avLst>
              <a:gd name="adj" fmla="val 5970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7581900" y="2876550"/>
            <a:ext cx="57150" cy="1276350"/>
          </a:xfrm>
          <a:prstGeom prst="rect">
            <a:avLst/>
          </a:prstGeom>
          <a:solidFill>
            <a:srgbClr val="53D7FF"/>
          </a:solidFill>
          <a:ln w="0">
            <a:solidFill>
              <a:srgbClr val="53D7FF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7810500" y="3086100"/>
            <a:ext cx="16002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Epoch 6</a:t>
            </a:r>
            <a:endParaRPr sz="255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810500" y="3657600"/>
            <a:ext cx="1600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早停结束</a:t>
            </a:r>
            <a:endParaRPr sz="12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9734550" y="2876550"/>
            <a:ext cx="2000250" cy="1276350"/>
          </a:xfrm>
          <a:prstGeom prst="roundRect">
            <a:avLst>
              <a:gd name="adj" fmla="val 5970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9734550" y="2876550"/>
            <a:ext cx="57150" cy="1276350"/>
          </a:xfrm>
          <a:prstGeom prst="rect">
            <a:avLst/>
          </a:prstGeom>
          <a:solidFill>
            <a:srgbClr val="42D392"/>
          </a:solidFill>
          <a:ln w="0">
            <a:solidFill>
              <a:srgbClr val="42D392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9963150" y="3086100"/>
            <a:ext cx="16002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恢复最佳</a:t>
            </a:r>
            <a:endParaRPr sz="255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9963150" y="3657600"/>
            <a:ext cx="1600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模型权重</a:t>
            </a:r>
            <a:endParaRPr sz="12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圆角矩形 18"/>
          <p:cNvSpPr>
            <a:spLocks noGrp="1"/>
          </p:cNvSpPr>
          <p:nvPr/>
        </p:nvSpPr>
        <p:spPr>
          <a:xfrm>
            <a:off x="7581900" y="4324350"/>
            <a:ext cx="4152900" cy="1733550"/>
          </a:xfrm>
          <a:prstGeom prst="roundRect">
            <a:avLst>
              <a:gd name="adj" fmla="val 4396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7848600" y="455295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6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实验结论</a:t>
            </a:r>
            <a:endParaRPr sz="165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椭圆 20"/>
          <p:cNvSpPr>
            <a:spLocks noGrp="1"/>
          </p:cNvSpPr>
          <p:nvPr/>
        </p:nvSpPr>
        <p:spPr>
          <a:xfrm>
            <a:off x="7848600" y="5057775"/>
            <a:ext cx="76200" cy="76200"/>
          </a:xfrm>
          <a:prstGeom prst="ellipse">
            <a:avLst/>
          </a:prstGeom>
          <a:solidFill>
            <a:srgbClr val="53D7FF"/>
          </a:solidFill>
          <a:ln w="0">
            <a:solidFill>
              <a:srgbClr val="53D7FF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8039100" y="4972050"/>
            <a:ext cx="3333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第1轮验证MAE：LSTM 0.7545 / PatchTST 0.7148</a:t>
            </a:r>
            <a:endParaRPr sz="1125" b="0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椭圆 22"/>
          <p:cNvSpPr>
            <a:spLocks noGrp="1"/>
          </p:cNvSpPr>
          <p:nvPr/>
        </p:nvSpPr>
        <p:spPr>
          <a:xfrm>
            <a:off x="7848600" y="5438775"/>
            <a:ext cx="76200" cy="76200"/>
          </a:xfrm>
          <a:prstGeom prst="ellipse">
            <a:avLst/>
          </a:prstGeom>
          <a:solidFill>
            <a:srgbClr val="53D7FF"/>
          </a:solidFill>
          <a:ln w="0">
            <a:solidFill>
              <a:srgbClr val="53D7FF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8039100" y="5353050"/>
            <a:ext cx="3333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 patience=5 早停，避免继续过拟合</a:t>
            </a:r>
            <a:endParaRPr sz="1125" b="0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椭圆 24"/>
          <p:cNvSpPr>
            <a:spLocks noGrp="1"/>
          </p:cNvSpPr>
          <p:nvPr/>
        </p:nvSpPr>
        <p:spPr>
          <a:xfrm>
            <a:off x="7848600" y="5819775"/>
            <a:ext cx="76200" cy="76200"/>
          </a:xfrm>
          <a:prstGeom prst="ellipse">
            <a:avLst/>
          </a:prstGeom>
          <a:solidFill>
            <a:srgbClr val="53D7FF"/>
          </a:solidFill>
          <a:ln w="0">
            <a:solidFill>
              <a:srgbClr val="53D7FF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8039100" y="5734050"/>
            <a:ext cx="3333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复杂模型必须与强季节基线同台比较</a:t>
            </a:r>
            <a:endParaRPr sz="1125" b="0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1" name="矩形 20"/>
          <p:cNvSpPr>
            <a:spLocks noGrp="1"/>
          </p:cNvSpPr>
          <p:nvPr/>
        </p:nvSpPr>
        <p:spPr>
          <a:xfrm>
            <a:off x="457200" y="266700"/>
            <a:ext cx="4572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POWERINSIGHT / 课程答辩</a:t>
            </a:r>
            <a:endParaRPr sz="900" b="1">
              <a:solidFill>
                <a:srgbClr val="53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57200" y="53340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固定测试：复杂模型没有超过昨日同刻基线</a:t>
            </a:r>
            <a:endParaRPr sz="255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57200" y="1133475"/>
            <a:ext cx="11277600" cy="9525"/>
          </a:xfrm>
          <a:prstGeom prst="rect">
            <a:avLst/>
          </a:prstGeom>
          <a:solidFill>
            <a:srgbClr val="293A4F"/>
          </a:solidFill>
          <a:ln w="0">
            <a:solidFill>
              <a:srgbClr val="293A4F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315700" y="6438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82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2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08</a:t>
            </a:r>
            <a:endParaRPr sz="82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457200" y="1428750"/>
            <a:ext cx="6896100" cy="4629150"/>
          </a:xfrm>
          <a:prstGeom prst="roundRect">
            <a:avLst>
              <a:gd name="adj" fmla="val 1646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="685800" y="1752600"/>
          <a:ext cx="6438900" cy="39052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7" name="圆角矩形 6"/>
          <p:cNvSpPr>
            <a:spLocks noGrp="1"/>
          </p:cNvSpPr>
          <p:nvPr/>
        </p:nvSpPr>
        <p:spPr>
          <a:xfrm>
            <a:off x="7620000" y="1428750"/>
            <a:ext cx="4114800" cy="1200150"/>
          </a:xfrm>
          <a:prstGeom prst="roundRect">
            <a:avLst>
              <a:gd name="adj" fmla="val 6349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620000" y="1428750"/>
            <a:ext cx="57150" cy="1200150"/>
          </a:xfrm>
          <a:prstGeom prst="rect">
            <a:avLst/>
          </a:prstGeom>
          <a:solidFill>
            <a:srgbClr val="2F8CFF"/>
          </a:solidFill>
          <a:ln w="0">
            <a:solidFill>
              <a:srgbClr val="2F8CFF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7848600" y="1638300"/>
            <a:ext cx="3714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0.6463 kW</a:t>
            </a:r>
            <a:endParaRPr sz="255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848600" y="220980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最佳 MAE：昨日同刻</a:t>
            </a:r>
            <a:endParaRPr sz="12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7620000" y="2800350"/>
            <a:ext cx="4114800" cy="1200150"/>
          </a:xfrm>
          <a:prstGeom prst="roundRect">
            <a:avLst>
              <a:gd name="adj" fmla="val 6349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7620000" y="2800350"/>
            <a:ext cx="57150" cy="1200150"/>
          </a:xfrm>
          <a:prstGeom prst="rect">
            <a:avLst/>
          </a:prstGeom>
          <a:solidFill>
            <a:srgbClr val="53D7FF"/>
          </a:solidFill>
          <a:ln w="0">
            <a:solidFill>
              <a:srgbClr val="53D7FF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7848600" y="3009900"/>
            <a:ext cx="3714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0.8753 kW</a:t>
            </a:r>
            <a:endParaRPr sz="255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848600" y="358140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最佳 RMSE：PatchTST</a:t>
            </a:r>
            <a:endParaRPr sz="12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7620000" y="4171950"/>
            <a:ext cx="4114800" cy="1200150"/>
          </a:xfrm>
          <a:prstGeom prst="roundRect">
            <a:avLst>
              <a:gd name="adj" fmla="val 6349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7620000" y="4171950"/>
            <a:ext cx="57150" cy="1200150"/>
          </a:xfrm>
          <a:prstGeom prst="rect">
            <a:avLst/>
          </a:prstGeom>
          <a:solidFill>
            <a:srgbClr val="42D392"/>
          </a:solidFill>
          <a:ln w="0">
            <a:solidFill>
              <a:srgbClr val="42D392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7848600" y="4381500"/>
            <a:ext cx="3714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94.07% / 96.20%</a:t>
            </a:r>
            <a:endParaRPr sz="255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7848600" y="495300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基线 / PatchTST 区间覆盖率</a:t>
            </a:r>
            <a:endParaRPr sz="12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圆角矩形 18"/>
          <p:cNvSpPr>
            <a:spLocks noGrp="1"/>
          </p:cNvSpPr>
          <p:nvPr/>
        </p:nvSpPr>
        <p:spPr>
          <a:xfrm>
            <a:off x="7620000" y="5543550"/>
            <a:ext cx="4114800" cy="514350"/>
          </a:xfrm>
          <a:prstGeom prst="roundRect">
            <a:avLst>
              <a:gd name="adj" fmla="val 14815"/>
            </a:avLst>
          </a:prstGeom>
          <a:solidFill>
            <a:srgbClr val="1B2C24"/>
          </a:solidFill>
          <a:ln w="9525">
            <a:solidFill>
              <a:srgbClr val="42D392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7791450" y="5695950"/>
            <a:ext cx="3771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1">
                <a:solidFill>
                  <a:srgbClr val="42D39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42D39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默认展示模型按真实 MAE 选择昨日同刻</a:t>
            </a:r>
            <a:endParaRPr sz="1200" b="1">
              <a:solidFill>
                <a:srgbClr val="42D39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矩形 25"/>
          <p:cNvSpPr>
            <a:spLocks noGrp="1"/>
          </p:cNvSpPr>
          <p:nvPr/>
        </p:nvSpPr>
        <p:spPr>
          <a:xfrm>
            <a:off x="457200" y="266700"/>
            <a:ext cx="4572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POWERINSIGHT / 课程答辩</a:t>
            </a:r>
            <a:endParaRPr sz="900" b="1">
              <a:solidFill>
                <a:srgbClr val="53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57200" y="53340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七页产品：从总览到设置的完整演示链路</a:t>
            </a:r>
            <a:endParaRPr sz="255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57200" y="1133475"/>
            <a:ext cx="11277600" cy="9525"/>
          </a:xfrm>
          <a:prstGeom prst="rect">
            <a:avLst/>
          </a:prstGeom>
          <a:solidFill>
            <a:srgbClr val="293A4F"/>
          </a:solidFill>
          <a:ln w="0">
            <a:solidFill>
              <a:srgbClr val="293A4F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315700" y="6438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82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2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09</a:t>
            </a:r>
            <a:endParaRPr sz="82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457200" y="1428750"/>
            <a:ext cx="2609850" cy="2038350"/>
          </a:xfrm>
          <a:prstGeom prst="roundRect">
            <a:avLst>
              <a:gd name="adj" fmla="val 3738"/>
            </a:avLst>
          </a:prstGeom>
          <a:solidFill>
            <a:srgbClr val="0B1421"/>
          </a:solidFill>
          <a:ln w="9525">
            <a:solidFill>
              <a:srgbClr val="293A4F"/>
            </a:solidFill>
            <a:prstDash val="solid"/>
          </a:ln>
        </p:spPr>
      </p:sp>
      <p:pic>
        <p:nvPicPr>
          <p:cNvPr id="31" name="图片 30"/>
          <p:cNvPicPr>
            <a:picLocks noChangeAspect="1"/>
          </p:cNvPicPr>
          <p:nvPr/>
        </p:nvPicPr>
        <p:blipFill>
          <a:blip r:embed="rId1"/>
          <a:srcRect l="5352" r="5352"/>
          <a:stretch>
            <a:fillRect/>
          </a:stretch>
        </p:blipFill>
        <p:spPr>
          <a:xfrm>
            <a:off x="552450" y="1524000"/>
            <a:ext cx="2419350" cy="1524000"/>
          </a:xfrm>
          <a:prstGeom prst="roundRect">
            <a:avLst/>
          </a:prstGeom>
        </p:spPr>
      </p:pic>
      <p:sp>
        <p:nvSpPr>
          <p:cNvPr id="7" name="矩形 6"/>
          <p:cNvSpPr>
            <a:spLocks noGrp="1"/>
          </p:cNvSpPr>
          <p:nvPr/>
        </p:nvSpPr>
        <p:spPr>
          <a:xfrm>
            <a:off x="571500" y="3124200"/>
            <a:ext cx="2381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系统总览</a:t>
            </a:r>
            <a:endParaRPr sz="120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3295650" y="1428750"/>
            <a:ext cx="2609850" cy="2038350"/>
          </a:xfrm>
          <a:prstGeom prst="roundRect">
            <a:avLst>
              <a:gd name="adj" fmla="val 3738"/>
            </a:avLst>
          </a:prstGeom>
          <a:solidFill>
            <a:srgbClr val="0B1421"/>
          </a:solidFill>
          <a:ln w="9525">
            <a:solidFill>
              <a:srgbClr val="293A4F"/>
            </a:solidFill>
            <a:prstDash val="solid"/>
          </a:ln>
        </p:spPr>
      </p:sp>
      <p:pic>
        <p:nvPicPr>
          <p:cNvPr id="34" name="图片 33"/>
          <p:cNvPicPr>
            <a:picLocks noChangeAspect="1"/>
          </p:cNvPicPr>
          <p:nvPr/>
        </p:nvPicPr>
        <p:blipFill>
          <a:blip r:embed="rId2"/>
          <a:srcRect l="5352" r="5352"/>
          <a:stretch>
            <a:fillRect/>
          </a:stretch>
        </p:blipFill>
        <p:spPr>
          <a:xfrm>
            <a:off x="3390900" y="1524000"/>
            <a:ext cx="2419350" cy="1524000"/>
          </a:xfrm>
          <a:prstGeom prst="roundRect">
            <a:avLst/>
          </a:prstGeom>
        </p:spPr>
      </p:pic>
      <p:sp>
        <p:nvSpPr>
          <p:cNvPr id="10" name="矩形 9"/>
          <p:cNvSpPr>
            <a:spLocks noGrp="1"/>
          </p:cNvSpPr>
          <p:nvPr/>
        </p:nvSpPr>
        <p:spPr>
          <a:xfrm>
            <a:off x="3409950" y="3124200"/>
            <a:ext cx="2381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数据中心</a:t>
            </a:r>
            <a:endParaRPr sz="120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6134100" y="1428750"/>
            <a:ext cx="2609850" cy="2038350"/>
          </a:xfrm>
          <a:prstGeom prst="roundRect">
            <a:avLst>
              <a:gd name="adj" fmla="val 3738"/>
            </a:avLst>
          </a:prstGeom>
          <a:solidFill>
            <a:srgbClr val="0B1421"/>
          </a:solidFill>
          <a:ln w="9525">
            <a:solidFill>
              <a:srgbClr val="293A4F"/>
            </a:solidFill>
            <a:prstDash val="solid"/>
          </a:ln>
        </p:spPr>
      </p:sp>
      <p:pic>
        <p:nvPicPr>
          <p:cNvPr id="37" name="图片 36"/>
          <p:cNvPicPr>
            <a:picLocks noChangeAspect="1"/>
          </p:cNvPicPr>
          <p:nvPr/>
        </p:nvPicPr>
        <p:blipFill>
          <a:blip r:embed="rId3"/>
          <a:srcRect l="5352" r="5352"/>
          <a:stretch>
            <a:fillRect/>
          </a:stretch>
        </p:blipFill>
        <p:spPr>
          <a:xfrm>
            <a:off x="6229350" y="1524000"/>
            <a:ext cx="2419350" cy="1524000"/>
          </a:xfrm>
          <a:prstGeom prst="roundRect">
            <a:avLst/>
          </a:prstGeom>
        </p:spPr>
      </p:pic>
      <p:sp>
        <p:nvSpPr>
          <p:cNvPr id="13" name="矩形 12"/>
          <p:cNvSpPr>
            <a:spLocks noGrp="1"/>
          </p:cNvSpPr>
          <p:nvPr/>
        </p:nvSpPr>
        <p:spPr>
          <a:xfrm>
            <a:off x="6248400" y="3124200"/>
            <a:ext cx="2381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用电分析</a:t>
            </a:r>
            <a:endParaRPr sz="120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8972550" y="1428750"/>
            <a:ext cx="2609850" cy="2038350"/>
          </a:xfrm>
          <a:prstGeom prst="roundRect">
            <a:avLst>
              <a:gd name="adj" fmla="val 3738"/>
            </a:avLst>
          </a:prstGeom>
          <a:solidFill>
            <a:srgbClr val="0B1421"/>
          </a:solidFill>
          <a:ln w="9525">
            <a:solidFill>
              <a:srgbClr val="293A4F"/>
            </a:solidFill>
            <a:prstDash val="solid"/>
          </a:ln>
        </p:spPr>
      </p:sp>
      <p:pic>
        <p:nvPicPr>
          <p:cNvPr id="40" name="图片 39"/>
          <p:cNvPicPr>
            <a:picLocks noChangeAspect="1"/>
          </p:cNvPicPr>
          <p:nvPr/>
        </p:nvPicPr>
        <p:blipFill>
          <a:blip r:embed="rId4"/>
          <a:srcRect l="5352" r="5352"/>
          <a:stretch>
            <a:fillRect/>
          </a:stretch>
        </p:blipFill>
        <p:spPr>
          <a:xfrm>
            <a:off x="9067800" y="1524000"/>
            <a:ext cx="2419350" cy="1524000"/>
          </a:xfrm>
          <a:prstGeom prst="roundRect">
            <a:avLst/>
          </a:prstGeom>
        </p:spPr>
      </p:pic>
      <p:sp>
        <p:nvSpPr>
          <p:cNvPr id="16" name="矩形 15"/>
          <p:cNvSpPr>
            <a:spLocks noGrp="1"/>
          </p:cNvSpPr>
          <p:nvPr/>
        </p:nvSpPr>
        <p:spPr>
          <a:xfrm>
            <a:off x="9086850" y="3124200"/>
            <a:ext cx="2381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负荷预测</a:t>
            </a:r>
            <a:endParaRPr sz="120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1876425" y="3848100"/>
            <a:ext cx="2609850" cy="2038350"/>
          </a:xfrm>
          <a:prstGeom prst="roundRect">
            <a:avLst>
              <a:gd name="adj" fmla="val 3738"/>
            </a:avLst>
          </a:prstGeom>
          <a:solidFill>
            <a:srgbClr val="0B1421"/>
          </a:solidFill>
          <a:ln w="9525">
            <a:solidFill>
              <a:srgbClr val="293A4F"/>
            </a:solidFill>
            <a:prstDash val="solid"/>
          </a:ln>
        </p:spPr>
      </p:sp>
      <p:pic>
        <p:nvPicPr>
          <p:cNvPr id="43" name="图片 42"/>
          <p:cNvPicPr>
            <a:picLocks noChangeAspect="1"/>
          </p:cNvPicPr>
          <p:nvPr/>
        </p:nvPicPr>
        <p:blipFill>
          <a:blip r:embed="rId5"/>
          <a:srcRect l="5352" r="5352"/>
          <a:stretch>
            <a:fillRect/>
          </a:stretch>
        </p:blipFill>
        <p:spPr>
          <a:xfrm>
            <a:off x="1971675" y="3943350"/>
            <a:ext cx="2419350" cy="1524000"/>
          </a:xfrm>
          <a:prstGeom prst="roundRect">
            <a:avLst/>
          </a:prstGeom>
        </p:spPr>
      </p:pic>
      <p:sp>
        <p:nvSpPr>
          <p:cNvPr id="19" name="矩形 18"/>
          <p:cNvSpPr>
            <a:spLocks noGrp="1"/>
          </p:cNvSpPr>
          <p:nvPr/>
        </p:nvSpPr>
        <p:spPr>
          <a:xfrm>
            <a:off x="1990725" y="5543550"/>
            <a:ext cx="2381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监测预警</a:t>
            </a:r>
            <a:endParaRPr sz="120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4714875" y="3848100"/>
            <a:ext cx="2609850" cy="2038350"/>
          </a:xfrm>
          <a:prstGeom prst="roundRect">
            <a:avLst>
              <a:gd name="adj" fmla="val 3738"/>
            </a:avLst>
          </a:prstGeom>
          <a:solidFill>
            <a:srgbClr val="0B1421"/>
          </a:solidFill>
          <a:ln w="9525">
            <a:solidFill>
              <a:srgbClr val="293A4F"/>
            </a:solidFill>
            <a:prstDash val="solid"/>
          </a:ln>
        </p:spPr>
      </p:sp>
      <p:pic>
        <p:nvPicPr>
          <p:cNvPr id="46" name="图片 45"/>
          <p:cNvPicPr>
            <a:picLocks noChangeAspect="1"/>
          </p:cNvPicPr>
          <p:nvPr/>
        </p:nvPicPr>
        <p:blipFill>
          <a:blip r:embed="rId6"/>
          <a:srcRect l="5352" r="5352"/>
          <a:stretch>
            <a:fillRect/>
          </a:stretch>
        </p:blipFill>
        <p:spPr>
          <a:xfrm>
            <a:off x="4810125" y="3943350"/>
            <a:ext cx="2419350" cy="1524000"/>
          </a:xfrm>
          <a:prstGeom prst="roundRect">
            <a:avLst/>
          </a:prstGeom>
        </p:spPr>
      </p:pic>
      <p:sp>
        <p:nvSpPr>
          <p:cNvPr id="22" name="矩形 21"/>
          <p:cNvSpPr>
            <a:spLocks noGrp="1"/>
          </p:cNvSpPr>
          <p:nvPr/>
        </p:nvSpPr>
        <p:spPr>
          <a:xfrm>
            <a:off x="4829175" y="5543550"/>
            <a:ext cx="2381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智能建议</a:t>
            </a:r>
            <a:endParaRPr sz="120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7553325" y="3848100"/>
            <a:ext cx="2609850" cy="2038350"/>
          </a:xfrm>
          <a:prstGeom prst="roundRect">
            <a:avLst>
              <a:gd name="adj" fmla="val 3738"/>
            </a:avLst>
          </a:prstGeom>
          <a:solidFill>
            <a:srgbClr val="0B1421"/>
          </a:solidFill>
          <a:ln w="9525">
            <a:solidFill>
              <a:srgbClr val="293A4F"/>
            </a:solidFill>
            <a:prstDash val="solid"/>
          </a:ln>
        </p:spPr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7"/>
          <a:srcRect l="5352" r="5352"/>
          <a:stretch>
            <a:fillRect/>
          </a:stretch>
        </p:blipFill>
        <p:spPr>
          <a:xfrm>
            <a:off x="7648575" y="3943350"/>
            <a:ext cx="2419350" cy="1524000"/>
          </a:xfrm>
          <a:prstGeom prst="roundRect">
            <a:avLst/>
          </a:prstGeom>
        </p:spPr>
      </p:pic>
      <p:sp>
        <p:nvSpPr>
          <p:cNvPr id="25" name="矩形 24"/>
          <p:cNvSpPr>
            <a:spLocks noGrp="1"/>
          </p:cNvSpPr>
          <p:nvPr/>
        </p:nvSpPr>
        <p:spPr>
          <a:xfrm>
            <a:off x="7667625" y="5543550"/>
            <a:ext cx="2381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系统设置</a:t>
            </a:r>
            <a:endParaRPr sz="120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1" name="矩形 30"/>
          <p:cNvSpPr>
            <a:spLocks noGrp="1"/>
          </p:cNvSpPr>
          <p:nvPr/>
        </p:nvSpPr>
        <p:spPr>
          <a:xfrm>
            <a:off x="457200" y="266700"/>
            <a:ext cx="4572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POWERINSIGHT / 课程答辩</a:t>
            </a:r>
            <a:endParaRPr sz="900" b="1">
              <a:solidFill>
                <a:srgbClr val="53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57200" y="53340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监测预警：一次点击，0.5秒逐点播放96步</a:t>
            </a:r>
            <a:endParaRPr sz="255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57200" y="1133475"/>
            <a:ext cx="11277600" cy="9525"/>
          </a:xfrm>
          <a:prstGeom prst="rect">
            <a:avLst/>
          </a:prstGeom>
          <a:solidFill>
            <a:srgbClr val="293A4F"/>
          </a:solidFill>
          <a:ln w="0">
            <a:solidFill>
              <a:srgbClr val="293A4F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315700" y="6438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82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2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10</a:t>
            </a:r>
            <a:endParaRPr sz="82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457200" y="1428750"/>
            <a:ext cx="7524750" cy="4629150"/>
          </a:xfrm>
          <a:prstGeom prst="roundRect">
            <a:avLst>
              <a:gd name="adj" fmla="val 1646"/>
            </a:avLst>
          </a:prstGeom>
          <a:solidFill>
            <a:srgbClr val="0B1421"/>
          </a:solidFill>
          <a:ln w="9525">
            <a:solidFill>
              <a:srgbClr val="293A4F"/>
            </a:solidFill>
            <a:prstDash val="solid"/>
          </a:ln>
        </p:spPr>
      </p:sp>
      <p:pic>
        <p:nvPicPr>
          <p:cNvPr id="36" name="图片 3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550" y="1701998"/>
            <a:ext cx="7258050" cy="4082653"/>
          </a:xfrm>
          <a:prstGeom prst="roundRect">
            <a:avLst/>
          </a:prstGeom>
        </p:spPr>
      </p:pic>
      <p:sp>
        <p:nvSpPr>
          <p:cNvPr id="7" name="圆角矩形 6"/>
          <p:cNvSpPr>
            <a:spLocks noGrp="1"/>
          </p:cNvSpPr>
          <p:nvPr/>
        </p:nvSpPr>
        <p:spPr>
          <a:xfrm>
            <a:off x="8248650" y="1428750"/>
            <a:ext cx="3486150" cy="2552700"/>
          </a:xfrm>
          <a:prstGeom prst="roundRect">
            <a:avLst>
              <a:gd name="adj" fmla="val 2985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8515350" y="16573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6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播放过程</a:t>
            </a:r>
            <a:endParaRPr sz="165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705850" y="2276475"/>
            <a:ext cx="38100" cy="1600200"/>
          </a:xfrm>
          <a:prstGeom prst="rect">
            <a:avLst/>
          </a:prstGeom>
          <a:solidFill>
            <a:srgbClr val="293A4F"/>
          </a:solidFill>
          <a:ln w="0">
            <a:solidFill>
              <a:srgbClr val="293A4F"/>
            </a:solidFill>
            <a:prstDash val="solid"/>
          </a:ln>
        </p:spPr>
      </p:sp>
      <p:sp>
        <p:nvSpPr>
          <p:cNvPr id="10" name="椭圆 9"/>
          <p:cNvSpPr>
            <a:spLocks noGrp="1"/>
          </p:cNvSpPr>
          <p:nvPr/>
        </p:nvSpPr>
        <p:spPr>
          <a:xfrm>
            <a:off x="8620125" y="2190750"/>
            <a:ext cx="209550" cy="209550"/>
          </a:xfrm>
          <a:prstGeom prst="ellipse">
            <a:avLst/>
          </a:prstGeom>
          <a:solidFill>
            <a:srgbClr val="2F8CFF"/>
          </a:solidFill>
          <a:ln w="0">
            <a:solidFill>
              <a:srgbClr val="2F8CFF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9010650" y="215265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1">
                <a:solidFill>
                  <a:srgbClr val="2F8C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2F8C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/ 96</a:t>
            </a:r>
            <a:endParaRPr sz="1500" b="1">
              <a:solidFill>
                <a:srgbClr val="2F8C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9010650" y="2447925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0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点击一键启动</a:t>
            </a:r>
            <a:endParaRPr sz="105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椭圆 12"/>
          <p:cNvSpPr>
            <a:spLocks noGrp="1"/>
          </p:cNvSpPr>
          <p:nvPr/>
        </p:nvSpPr>
        <p:spPr>
          <a:xfrm>
            <a:off x="8620125" y="2933700"/>
            <a:ext cx="209550" cy="209550"/>
          </a:xfrm>
          <a:prstGeom prst="ellipse">
            <a:avLst/>
          </a:prstGeom>
          <a:solidFill>
            <a:srgbClr val="53D7FF"/>
          </a:solidFill>
          <a:ln w="0">
            <a:solidFill>
              <a:srgbClr val="53D7FF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9010650" y="289560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 / 96</a:t>
            </a:r>
            <a:endParaRPr sz="1500" b="1">
              <a:solidFill>
                <a:srgbClr val="53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9010650" y="3190875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0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浏览器截图实测</a:t>
            </a:r>
            <a:endParaRPr sz="105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椭圆 15"/>
          <p:cNvSpPr>
            <a:spLocks noGrp="1"/>
          </p:cNvSpPr>
          <p:nvPr/>
        </p:nvSpPr>
        <p:spPr>
          <a:xfrm>
            <a:off x="8620125" y="3676650"/>
            <a:ext cx="209550" cy="209550"/>
          </a:xfrm>
          <a:prstGeom prst="ellipse">
            <a:avLst/>
          </a:prstGeom>
          <a:solidFill>
            <a:srgbClr val="42D392"/>
          </a:solidFill>
          <a:ln w="0">
            <a:solidFill>
              <a:srgbClr val="42D392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9010650" y="363855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1">
                <a:solidFill>
                  <a:srgbClr val="42D39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42D39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96 / 96</a:t>
            </a:r>
            <a:endParaRPr sz="1500" b="1">
              <a:solidFill>
                <a:srgbClr val="42D39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9010650" y="3933825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0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约48秒自动结束</a:t>
            </a:r>
            <a:endParaRPr sz="105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圆角矩形 18"/>
          <p:cNvSpPr>
            <a:spLocks noGrp="1"/>
          </p:cNvSpPr>
          <p:nvPr/>
        </p:nvSpPr>
        <p:spPr>
          <a:xfrm>
            <a:off x="8248650" y="4210050"/>
            <a:ext cx="1066800" cy="1847850"/>
          </a:xfrm>
          <a:prstGeom prst="roundRect">
            <a:avLst>
              <a:gd name="adj" fmla="val 7143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8248650" y="4210050"/>
            <a:ext cx="57150" cy="1847850"/>
          </a:xfrm>
          <a:prstGeom prst="rect">
            <a:avLst/>
          </a:prstGeom>
          <a:solidFill>
            <a:srgbClr val="2F8CFF"/>
          </a:solidFill>
          <a:ln w="0">
            <a:solidFill>
              <a:srgbClr val="2F8CFF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8362950" y="4495800"/>
            <a:ext cx="876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2175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0.5 s</a:t>
            </a:r>
            <a:endParaRPr sz="2175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8362950" y="5238750"/>
            <a:ext cx="876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0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每次增加</a:t>
            </a:r>
            <a:endParaRPr sz="105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0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个点</a:t>
            </a:r>
            <a:endParaRPr sz="105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9448800" y="4210050"/>
            <a:ext cx="1066800" cy="1847850"/>
          </a:xfrm>
          <a:prstGeom prst="roundRect">
            <a:avLst>
              <a:gd name="adj" fmla="val 7143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9448800" y="4210050"/>
            <a:ext cx="57150" cy="1847850"/>
          </a:xfrm>
          <a:prstGeom prst="rect">
            <a:avLst/>
          </a:prstGeom>
          <a:solidFill>
            <a:srgbClr val="F4C95D"/>
          </a:solidFill>
          <a:ln w="0">
            <a:solidFill>
              <a:srgbClr val="F4C95D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9563100" y="4495800"/>
            <a:ext cx="876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2175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23</a:t>
            </a:r>
            <a:endParaRPr sz="2175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9563100" y="5238750"/>
            <a:ext cx="876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0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回放预警</a:t>
            </a:r>
            <a:endParaRPr sz="105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10648950" y="4210050"/>
            <a:ext cx="1085850" cy="1847850"/>
          </a:xfrm>
          <a:prstGeom prst="roundRect">
            <a:avLst>
              <a:gd name="adj" fmla="val 7018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10648950" y="4210050"/>
            <a:ext cx="57150" cy="1847850"/>
          </a:xfrm>
          <a:prstGeom prst="rect">
            <a:avLst/>
          </a:prstGeom>
          <a:solidFill>
            <a:srgbClr val="42D392"/>
          </a:solidFill>
          <a:ln w="0">
            <a:solidFill>
              <a:srgbClr val="42D392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10763250" y="4495800"/>
            <a:ext cx="895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2025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同步</a:t>
            </a:r>
            <a:endParaRPr sz="2025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10763250" y="5238750"/>
            <a:ext cx="8953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0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曲线与状态</a:t>
            </a:r>
            <a:endParaRPr sz="105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矩形 25"/>
          <p:cNvSpPr>
            <a:spLocks noGrp="1"/>
          </p:cNvSpPr>
          <p:nvPr/>
        </p:nvSpPr>
        <p:spPr>
          <a:xfrm>
            <a:off x="457200" y="266700"/>
            <a:ext cx="4572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POWERINSIGHT / 课程答辩</a:t>
            </a:r>
            <a:endParaRPr sz="900" b="1">
              <a:solidFill>
                <a:srgbClr val="53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57200" y="53340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智能建议：真实API调用 + Markdown一键导出</a:t>
            </a:r>
            <a:endParaRPr sz="255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57200" y="1133475"/>
            <a:ext cx="11277600" cy="9525"/>
          </a:xfrm>
          <a:prstGeom prst="rect">
            <a:avLst/>
          </a:prstGeom>
          <a:solidFill>
            <a:srgbClr val="293A4F"/>
          </a:solidFill>
          <a:ln w="0">
            <a:solidFill>
              <a:srgbClr val="293A4F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315700" y="6438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82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2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11</a:t>
            </a:r>
            <a:endParaRPr sz="82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457200" y="1428750"/>
            <a:ext cx="6743700" cy="4629150"/>
          </a:xfrm>
          <a:prstGeom prst="roundRect">
            <a:avLst>
              <a:gd name="adj" fmla="val 1646"/>
            </a:avLst>
          </a:prstGeom>
          <a:solidFill>
            <a:srgbClr val="0B1421"/>
          </a:solidFill>
          <a:ln w="9525">
            <a:solidFill>
              <a:srgbClr val="293A4F"/>
            </a:solidFill>
            <a:prstDash val="solid"/>
          </a:ln>
        </p:spPr>
      </p:sp>
      <p:pic>
        <p:nvPicPr>
          <p:cNvPr id="31" name="图片 3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550" y="1921669"/>
            <a:ext cx="6477000" cy="3643313"/>
          </a:xfrm>
          <a:prstGeom prst="roundRect">
            <a:avLst/>
          </a:prstGeom>
        </p:spPr>
      </p:pic>
      <p:sp>
        <p:nvSpPr>
          <p:cNvPr id="7" name="圆角矩形 6"/>
          <p:cNvSpPr>
            <a:spLocks noGrp="1"/>
          </p:cNvSpPr>
          <p:nvPr/>
        </p:nvSpPr>
        <p:spPr>
          <a:xfrm>
            <a:off x="7467600" y="1428750"/>
            <a:ext cx="4267200" cy="1409700"/>
          </a:xfrm>
          <a:prstGeom prst="roundRect">
            <a:avLst>
              <a:gd name="adj" fmla="val 5405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734300" y="16573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真实链路状态</a:t>
            </a:r>
            <a:endParaRPr sz="1575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7734300" y="2190750"/>
            <a:ext cx="952500" cy="400050"/>
          </a:xfrm>
          <a:prstGeom prst="roundRect">
            <a:avLst>
              <a:gd name="adj" fmla="val 19048"/>
            </a:avLst>
          </a:prstGeom>
          <a:solidFill>
            <a:srgbClr val="0C1724"/>
          </a:solidFill>
          <a:ln w="9525">
            <a:solidFill>
              <a:srgbClr val="2F8CFF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7772400" y="2295525"/>
            <a:ext cx="8763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790" b="1">
                <a:solidFill>
                  <a:srgbClr val="2F8C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790" b="1">
                <a:solidFill>
                  <a:srgbClr val="2F8C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mode=api</a:t>
            </a:r>
            <a:endParaRPr sz="790" b="1">
              <a:solidFill>
                <a:srgbClr val="2F8C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8763000" y="2190750"/>
            <a:ext cx="1485900" cy="400050"/>
          </a:xfrm>
          <a:prstGeom prst="roundRect">
            <a:avLst>
              <a:gd name="adj" fmla="val 19048"/>
            </a:avLst>
          </a:prstGeom>
          <a:solidFill>
            <a:srgbClr val="0C1724"/>
          </a:solidFill>
          <a:ln w="9525">
            <a:solidFill>
              <a:srgbClr val="42D392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8801100" y="2295525"/>
            <a:ext cx="14097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715" b="1">
                <a:solidFill>
                  <a:srgbClr val="42D392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715" b="1">
                <a:solidFill>
                  <a:srgbClr val="42D392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diagnostic=None</a:t>
            </a:r>
            <a:endParaRPr sz="715" b="1">
              <a:solidFill>
                <a:srgbClr val="42D392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10325100" y="2190750"/>
            <a:ext cx="1066800" cy="400050"/>
          </a:xfrm>
          <a:prstGeom prst="roundRect">
            <a:avLst>
              <a:gd name="adj" fmla="val 19048"/>
            </a:avLst>
          </a:prstGeom>
          <a:solidFill>
            <a:srgbClr val="0C1724"/>
          </a:solidFill>
          <a:ln w="9525">
            <a:solidFill>
              <a:srgbClr val="53D7FF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10363200" y="2295525"/>
            <a:ext cx="990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715" b="1">
                <a:solidFill>
                  <a:srgbClr val="53D7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715" b="1">
                <a:solidFill>
                  <a:srgbClr val="53D7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gpt-5.6-luna</a:t>
            </a:r>
            <a:endParaRPr sz="715" b="1">
              <a:solidFill>
                <a:srgbClr val="53D7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7467600" y="3028950"/>
            <a:ext cx="4267200" cy="1790700"/>
          </a:xfrm>
          <a:prstGeom prst="roundRect">
            <a:avLst>
              <a:gd name="adj" fmla="val 4255"/>
            </a:avLst>
          </a:prstGeom>
          <a:solidFill>
            <a:srgbClr val="111D2C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7734300" y="32575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生成与导出</a:t>
            </a:r>
            <a:endParaRPr sz="1575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椭圆 16"/>
          <p:cNvSpPr>
            <a:spLocks noGrp="1"/>
          </p:cNvSpPr>
          <p:nvPr/>
        </p:nvSpPr>
        <p:spPr>
          <a:xfrm>
            <a:off x="7734300" y="3781425"/>
            <a:ext cx="76200" cy="76200"/>
          </a:xfrm>
          <a:prstGeom prst="ellipse">
            <a:avLst/>
          </a:prstGeom>
          <a:solidFill>
            <a:srgbClr val="53D7FF"/>
          </a:solidFill>
          <a:ln w="0">
            <a:solidFill>
              <a:srgbClr val="53D7FF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7924800" y="36957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建议按现状判断、峰值管理、日常执行、持续观察组织</a:t>
            </a:r>
            <a:endParaRPr sz="1125" b="0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椭圆 18"/>
          <p:cNvSpPr>
            <a:spLocks noGrp="1"/>
          </p:cNvSpPr>
          <p:nvPr/>
        </p:nvSpPr>
        <p:spPr>
          <a:xfrm>
            <a:off x="7734300" y="4143375"/>
            <a:ext cx="76200" cy="76200"/>
          </a:xfrm>
          <a:prstGeom prst="ellipse">
            <a:avLst/>
          </a:prstGeom>
          <a:solidFill>
            <a:srgbClr val="53D7FF"/>
          </a:solidFill>
          <a:ln w="0">
            <a:solidFill>
              <a:srgbClr val="53D7FF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7924800" y="405765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允许生成约1000字完整中文建议，不做生硬截断</a:t>
            </a:r>
            <a:endParaRPr sz="1125" b="0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椭圆 20"/>
          <p:cNvSpPr>
            <a:spLocks noGrp="1"/>
          </p:cNvSpPr>
          <p:nvPr/>
        </p:nvSpPr>
        <p:spPr>
          <a:xfrm>
            <a:off x="7734300" y="4505325"/>
            <a:ext cx="76200" cy="76200"/>
          </a:xfrm>
          <a:prstGeom prst="ellipse">
            <a:avLst/>
          </a:prstGeom>
          <a:solidFill>
            <a:srgbClr val="53D7FF"/>
          </a:solidFill>
          <a:ln w="0">
            <a:solidFill>
              <a:srgbClr val="53D7FF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7924800" y="44196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一键导出 powerinsight_advice.md</a:t>
            </a:r>
            <a:endParaRPr sz="1125" b="0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7467600" y="5010150"/>
            <a:ext cx="4267200" cy="1047750"/>
          </a:xfrm>
          <a:prstGeom prst="roundRect">
            <a:avLst>
              <a:gd name="adj" fmla="val 7273"/>
            </a:avLst>
          </a:prstGeom>
          <a:solidFill>
            <a:srgbClr val="0C1724"/>
          </a:solidFill>
          <a:ln w="9525">
            <a:solidFill>
              <a:srgbClr val="293A4F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7734300" y="5200650"/>
            <a:ext cx="114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425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工程验收</a:t>
            </a:r>
            <a:endParaRPr sz="1425" b="1">
              <a:solidFill>
                <a:srgbClr val="53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7734300" y="5543550"/>
            <a:ext cx="3676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135项测试 · Ruff · mypy src · pre-commit · BAT启动</a:t>
            </a:r>
            <a:endParaRPr sz="112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矩形 15"/>
          <p:cNvSpPr>
            <a:spLocks noGrp="1"/>
          </p:cNvSpPr>
          <p:nvPr/>
        </p:nvSpPr>
        <p:spPr>
          <a:xfrm>
            <a:off x="457200" y="3429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05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结论 / Q&amp;A</a:t>
            </a:r>
            <a:endParaRPr sz="1050" b="1">
              <a:solidFill>
                <a:srgbClr val="53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57200" y="1200150"/>
            <a:ext cx="87630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6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6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真实结果比“漂亮结果”更有价值</a:t>
            </a:r>
            <a:endParaRPr sz="360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57200" y="2209800"/>
            <a:ext cx="8858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6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PowerInsight 完成了从公开数据到预测、预警、建议与课程材料的闭环交付。</a:t>
            </a:r>
            <a:endParaRPr sz="165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圆角矩形 3"/>
          <p:cNvSpPr>
            <a:spLocks noGrp="1"/>
          </p:cNvSpPr>
          <p:nvPr/>
        </p:nvSpPr>
        <p:spPr>
          <a:xfrm>
            <a:off x="457200" y="3200400"/>
            <a:ext cx="3524250" cy="1790700"/>
          </a:xfrm>
          <a:prstGeom prst="roundRect">
            <a:avLst>
              <a:gd name="adj" fmla="val 4255"/>
            </a:avLst>
          </a:prstGeom>
          <a:solidFill>
            <a:srgbClr val="111D2C"/>
          </a:solidFill>
          <a:ln w="9525">
            <a:solidFill>
              <a:srgbClr val="2F8CFF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3448050"/>
            <a:ext cx="3048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100" b="1">
                <a:solidFill>
                  <a:srgbClr val="2F8C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2F8C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可复现</a:t>
            </a:r>
            <a:endParaRPr sz="2100" b="1">
              <a:solidFill>
                <a:srgbClr val="2F8C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85800" y="4038600"/>
            <a:ext cx="3048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固定月份切分、冻结模型、统一测试与一键启动</a:t>
            </a:r>
            <a:endParaRPr sz="12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圆角矩形 6"/>
          <p:cNvSpPr>
            <a:spLocks noGrp="1"/>
          </p:cNvSpPr>
          <p:nvPr/>
        </p:nvSpPr>
        <p:spPr>
          <a:xfrm>
            <a:off x="4248150" y="3200400"/>
            <a:ext cx="3524250" cy="1790700"/>
          </a:xfrm>
          <a:prstGeom prst="roundRect">
            <a:avLst>
              <a:gd name="adj" fmla="val 4255"/>
            </a:avLst>
          </a:prstGeom>
          <a:solidFill>
            <a:srgbClr val="111D2C"/>
          </a:solidFill>
          <a:ln w="9525">
            <a:solidFill>
              <a:srgbClr val="53D7FF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4476750" y="3448050"/>
            <a:ext cx="3048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10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53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可解释</a:t>
            </a:r>
            <a:endParaRPr sz="2100" b="1">
              <a:solidFill>
                <a:srgbClr val="53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4476750" y="4038600"/>
            <a:ext cx="3048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复杂模型未超过强季节基线，按真实MAE选择默认模型</a:t>
            </a:r>
            <a:endParaRPr sz="12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8039100" y="3200400"/>
            <a:ext cx="3524250" cy="1790700"/>
          </a:xfrm>
          <a:prstGeom prst="roundRect">
            <a:avLst>
              <a:gd name="adj" fmla="val 4255"/>
            </a:avLst>
          </a:prstGeom>
          <a:solidFill>
            <a:srgbClr val="111D2C"/>
          </a:solidFill>
          <a:ln w="9525">
            <a:solidFill>
              <a:srgbClr val="42D392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8267700" y="3448050"/>
            <a:ext cx="3048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100" b="1">
                <a:solidFill>
                  <a:srgbClr val="42D39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42D39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可演示</a:t>
            </a:r>
            <a:endParaRPr sz="2100" b="1">
              <a:solidFill>
                <a:srgbClr val="42D39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8267700" y="4038600"/>
            <a:ext cx="3048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0.5秒逐点播放、真实智能建议、Markdown导出</a:t>
            </a:r>
            <a:endParaRPr sz="1275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457200" y="5429250"/>
            <a:ext cx="11277600" cy="742950"/>
          </a:xfrm>
          <a:prstGeom prst="roundRect">
            <a:avLst>
              <a:gd name="adj" fmla="val 10256"/>
            </a:avLst>
          </a:prstGeom>
          <a:solidFill>
            <a:srgbClr val="0C1724"/>
          </a:solidFill>
          <a:ln w="9525">
            <a:solidFill>
              <a:srgbClr val="2F8CFF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685800" y="5600700"/>
            <a:ext cx="10820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21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F7FA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可复现 · 可解释 · 可演示</a:t>
            </a:r>
            <a:endParaRPr sz="2100" b="1">
              <a:solidFill>
                <a:srgbClr val="F7FA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10287000" y="6419850"/>
            <a:ext cx="1447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90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9FB2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欢迎提问</a:t>
            </a:r>
            <a:endParaRPr sz="900" b="0">
              <a:solidFill>
                <a:srgbClr val="9FB2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1950</Words>
  <Application>WPS 演示</Application>
  <PresentationFormat>Converted Presentation</PresentationFormat>
  <Paragraphs>365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Arial</vt:lpstr>
      <vt:lpstr>宋体</vt:lpstr>
      <vt:lpstr>Wingdings</vt:lpstr>
      <vt:lpstr>微软雅黑</vt:lpstr>
      <vt:lpstr>Consolas</vt:lpstr>
      <vt:lpstr>Arial Unicode MS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Acer</cp:lastModifiedBy>
  <cp:revision>1</cp:revision>
  <dcterms:created xsi:type="dcterms:W3CDTF">2026-07-22T06:34:29Z</dcterms:created>
  <dcterms:modified xsi:type="dcterms:W3CDTF">2026-07-22T06:34:29Z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7AED6F571E38427D8C7AAF206E07F8EE_12</vt:lpwstr>
  </property>
  <property fmtid="{D5CDD505-2E9C-101B-9397-08002B2CF9AE}" pid="3" name="KSOProductBuildVer">
    <vt:lpwstr>2052-12.8.2.17149</vt:lpwstr>
  </property>
</Properties>
</file>