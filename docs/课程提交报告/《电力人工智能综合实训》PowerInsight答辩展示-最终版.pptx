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130e0419b54773" /><Relationship Type="http://schemas.openxmlformats.org/officeDocument/2006/relationships/extended-properties" Target="/docProps/app.xml" Id="Rc581e1c6b0fc43e8" /><Relationship Type="http://schemas.openxmlformats.org/officeDocument/2006/relationships/officeDocument" Target="/ppt/presentation.xml" Id="Racb7660e93f6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3c6951d6cc42a2"/>
  </p:sldMasterIdLst>
  <p:notesMasterIdLst>
    <p:notesMasterId xmlns:r="http://schemas.openxmlformats.org/officeDocument/2006/relationships" r:id="R0f45d9bff2df4707"/>
  </p:notesMasterIdLst>
  <p:sldIdLst>
    <p:sldId xmlns:r="http://schemas.openxmlformats.org/officeDocument/2006/relationships" id="256" r:id="R5a92adb5c9344a86"/>
    <p:sldId xmlns:r="http://schemas.openxmlformats.org/officeDocument/2006/relationships" id="257" r:id="R4410b73e01d145c1"/>
    <p:sldId xmlns:r="http://schemas.openxmlformats.org/officeDocument/2006/relationships" id="258" r:id="Rb493e47f0f234475"/>
    <p:sldId xmlns:r="http://schemas.openxmlformats.org/officeDocument/2006/relationships" id="259" r:id="R0dd4624092e24991"/>
    <p:sldId xmlns:r="http://schemas.openxmlformats.org/officeDocument/2006/relationships" id="260" r:id="Ra11e1e83babe4fe1"/>
    <p:sldId xmlns:r="http://schemas.openxmlformats.org/officeDocument/2006/relationships" id="261" r:id="Rdc39871082054611"/>
    <p:sldId xmlns:r="http://schemas.openxmlformats.org/officeDocument/2006/relationships" id="262" r:id="R88f997f98d984167"/>
    <p:sldId xmlns:r="http://schemas.openxmlformats.org/officeDocument/2006/relationships" id="263" r:id="Ra17c84721b9649e5"/>
    <p:sldId xmlns:r="http://schemas.openxmlformats.org/officeDocument/2006/relationships" id="264" r:id="Rb33934c09a414dc4"/>
    <p:sldId xmlns:r="http://schemas.openxmlformats.org/officeDocument/2006/relationships" id="265" r:id="R9cfe0bd7ceed4600"/>
    <p:sldId xmlns:r="http://schemas.openxmlformats.org/officeDocument/2006/relationships" id="266" r:id="Rcdbadef45c144d23"/>
    <p:sldId xmlns:r="http://schemas.openxmlformats.org/officeDocument/2006/relationships" id="267" r:id="Re0ed4ee8ab6941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1a3edce2cf43a7" /><Relationship Type="http://schemas.openxmlformats.org/officeDocument/2006/relationships/slideMaster" Target="/ppt/slideMasters/slideMaster1.xml" Id="R9f3c6951d6cc42a2" /><Relationship Type="http://schemas.openxmlformats.org/officeDocument/2006/relationships/notesMaster" Target="/ppt/notesMasters/notesMaster1.xml" Id="R0f45d9bff2df4707" /><Relationship Type="http://schemas.openxmlformats.org/officeDocument/2006/relationships/presProps" Target="/ppt/presProps.xml" Id="R9f4d192e09a84dde" /><Relationship Type="http://schemas.openxmlformats.org/officeDocument/2006/relationships/tableStyles" Target="/ppt/tableStyles.xml" Id="R698a7ac6e763409e" /><Relationship Type="http://schemas.openxmlformats.org/officeDocument/2006/relationships/slide" Target="/ppt/slides/slide1.xml" Id="R5a92adb5c9344a86" /><Relationship Type="http://schemas.openxmlformats.org/officeDocument/2006/relationships/slide" Target="/ppt/slides/slide2.xml" Id="R4410b73e01d145c1" /><Relationship Type="http://schemas.openxmlformats.org/officeDocument/2006/relationships/slide" Target="/ppt/slides/slide3.xml" Id="Rb493e47f0f234475" /><Relationship Type="http://schemas.openxmlformats.org/officeDocument/2006/relationships/slide" Target="/ppt/slides/slide4.xml" Id="R0dd4624092e24991" /><Relationship Type="http://schemas.openxmlformats.org/officeDocument/2006/relationships/slide" Target="/ppt/slides/slide5.xml" Id="Ra11e1e83babe4fe1" /><Relationship Type="http://schemas.openxmlformats.org/officeDocument/2006/relationships/slide" Target="/ppt/slides/slide6.xml" Id="Rdc39871082054611" /><Relationship Type="http://schemas.openxmlformats.org/officeDocument/2006/relationships/slide" Target="/ppt/slides/slide7.xml" Id="R88f997f98d984167" /><Relationship Type="http://schemas.openxmlformats.org/officeDocument/2006/relationships/slide" Target="/ppt/slides/slide8.xml" Id="Ra17c84721b9649e5" /><Relationship Type="http://schemas.openxmlformats.org/officeDocument/2006/relationships/slide" Target="/ppt/slides/slide9.xml" Id="Rb33934c09a414dc4" /><Relationship Type="http://schemas.openxmlformats.org/officeDocument/2006/relationships/slide" Target="/ppt/slides/slide10.xml" Id="R9cfe0bd7ceed4600" /><Relationship Type="http://schemas.openxmlformats.org/officeDocument/2006/relationships/slide" Target="/ppt/slides/slide11.xml" Id="Rcdbadef45c144d23" /><Relationship Type="http://schemas.openxmlformats.org/officeDocument/2006/relationships/slide" Target="/ppt/slides/slide12.xml" Id="Re0ed4ee8ab6941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278b2c0a2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6400fdf2d4ff3" /><Relationship Type="http://schemas.openxmlformats.org/officeDocument/2006/relationships/notesMaster" Target="/ppt/notesMasters/notesMaster1.xml" Id="R8310e5a15be948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4ba286c6024066" /><Relationship Type="http://schemas.openxmlformats.org/officeDocument/2006/relationships/notesMaster" Target="/ppt/notesMasters/notesMaster1.xml" Id="Re8a13e6d444b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56456ca4a4600" /><Relationship Type="http://schemas.openxmlformats.org/officeDocument/2006/relationships/notesMaster" Target="/ppt/notesMasters/notesMaster1.xml" Id="R4cda0eed38a549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290a21bb054f73" /><Relationship Type="http://schemas.openxmlformats.org/officeDocument/2006/relationships/notesMaster" Target="/ppt/notesMasters/notesMaster1.xml" Id="Rba01952c75464a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7653e93a1c4b84" /><Relationship Type="http://schemas.openxmlformats.org/officeDocument/2006/relationships/notesMaster" Target="/ppt/notesMasters/notesMaster1.xml" Id="R837f3d46954d4a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17abac37f421b" /><Relationship Type="http://schemas.openxmlformats.org/officeDocument/2006/relationships/notesMaster" Target="/ppt/notesMasters/notesMaster1.xml" Id="R2879ed73815d40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3871769b34c4f" /><Relationship Type="http://schemas.openxmlformats.org/officeDocument/2006/relationships/notesMaster" Target="/ppt/notesMasters/notesMaster1.xml" Id="Rbd85165fbfff4a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be1bc7224d415e" /><Relationship Type="http://schemas.openxmlformats.org/officeDocument/2006/relationships/notesMaster" Target="/ppt/notesMasters/notesMaster1.xml" Id="R5dfec3b7b86c46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e6d6e67a054f6e" /><Relationship Type="http://schemas.openxmlformats.org/officeDocument/2006/relationships/notesMaster" Target="/ppt/notesMasters/notesMaster1.xml" Id="Rf7a3501dae0144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29628c834f4aef" /><Relationship Type="http://schemas.openxmlformats.org/officeDocument/2006/relationships/notesMaster" Target="/ppt/notesMasters/notesMaster1.xml" Id="Rfe2178a91f0d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7e0a88d42a4b16" /><Relationship Type="http://schemas.openxmlformats.org/officeDocument/2006/relationships/notesMaster" Target="/ppt/notesMasters/notesMaster1.xml" Id="Rb0502af241ff4f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5a166bd5aa4cac" /><Relationship Type="http://schemas.openxmlformats.org/officeDocument/2006/relationships/notesMaster" Target="/ppt/notesMasters/notesMaster1.xml" Id="R7db8254a6fa349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14615e7c440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7271dbc8442c0" /><Relationship Type="http://schemas.openxmlformats.org/officeDocument/2006/relationships/slideLayout" Target="/ppt/slideLayouts/slideLayout1.xml" Id="Rb6638810655f43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638810655f43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a6bf1b17d4b93" /><Relationship Type="http://schemas.openxmlformats.org/officeDocument/2006/relationships/image" Target="/ppt/media/image.png" Id="R9471edc9e6b545a0" /><Relationship Type="http://schemas.openxmlformats.org/officeDocument/2006/relationships/notesSlide" Target="/ppt/notesSlides/notesSlide1.xml" Id="R7c5ce31cd0e740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3e44d0d2f4254" /><Relationship Type="http://schemas.openxmlformats.org/officeDocument/2006/relationships/notesSlide" Target="/ppt/notesSlides/notesSlide2.xml" Id="Rc3247c6f3446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2546dfd3447a6" /><Relationship Type="http://schemas.openxmlformats.org/officeDocument/2006/relationships/image" Target="/ppt/media/image2.png" Id="R8566e9cf20cd49c2" /><Relationship Type="http://schemas.openxmlformats.org/officeDocument/2006/relationships/notesSlide" Target="/ppt/notesSlides/notesSlide3.xml" Id="R71e1fec6ebc142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0ba5766bc48ff" /><Relationship Type="http://schemas.openxmlformats.org/officeDocument/2006/relationships/notesSlide" Target="/ppt/notesSlides/notesSlide4.xml" Id="Re929135b9b60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eb246b668438e" /><Relationship Type="http://schemas.openxmlformats.org/officeDocument/2006/relationships/image" Target="/ppt/media/image3.png" Id="Re2523c53c6d141bd" /><Relationship Type="http://schemas.openxmlformats.org/officeDocument/2006/relationships/notesSlide" Target="/ppt/notesSlides/notesSlide5.xml" Id="Ra5520cd2b775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2d18e7d8b42b6" /><Relationship Type="http://schemas.openxmlformats.org/officeDocument/2006/relationships/notesSlide" Target="/ppt/notesSlides/notesSlide6.xml" Id="Recfe1eb31e1e41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d834d957347c6" /><Relationship Type="http://schemas.openxmlformats.org/officeDocument/2006/relationships/chart" Target="/ppt/slides/charts/chart1.xml" Id="Reb523d5e7f1f4ce6" /><Relationship Type="http://schemas.openxmlformats.org/officeDocument/2006/relationships/notesSlide" Target="/ppt/notesSlides/notesSlide7.xml" Id="R942dfe14b11c4a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fc73b483b4edb" /><Relationship Type="http://schemas.openxmlformats.org/officeDocument/2006/relationships/chart" Target="/ppt/slides/charts/chart2.xml" Id="R1c4e72c9cac24ed0" /><Relationship Type="http://schemas.openxmlformats.org/officeDocument/2006/relationships/notesSlide" Target="/ppt/notesSlides/notesSlide8.xml" Id="R20080b518c2e42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dd0c73d25440d" /><Relationship Type="http://schemas.openxmlformats.org/officeDocument/2006/relationships/image" Target="/ppt/media/image4.png" Id="Rb41c04481d524e3f" /><Relationship Type="http://schemas.openxmlformats.org/officeDocument/2006/relationships/image" Target="/ppt/media/image5.png" Id="R1a63108411d14903" /><Relationship Type="http://schemas.openxmlformats.org/officeDocument/2006/relationships/image" Target="/ppt/media/image6.png" Id="Rc2e50c5cb063466b" /><Relationship Type="http://schemas.openxmlformats.org/officeDocument/2006/relationships/image" Target="/ppt/media/image7.png" Id="Rac4cff8e6f294aa0" /><Relationship Type="http://schemas.openxmlformats.org/officeDocument/2006/relationships/image" Target="/ppt/media/image8.png" Id="R0337380d44554f45" /><Relationship Type="http://schemas.openxmlformats.org/officeDocument/2006/relationships/image" Target="/ppt/media/image9.png" Id="R803b7702d5d84f49" /><Relationship Type="http://schemas.openxmlformats.org/officeDocument/2006/relationships/image" Target="/ppt/media/image10.png" Id="R16ea6bcb4f2c482e" /><Relationship Type="http://schemas.openxmlformats.org/officeDocument/2006/relationships/notesSlide" Target="/ppt/notesSlides/notesSlide9.xml" Id="R5dbba0320b8340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6f3c6914b497d" /><Relationship Type="http://schemas.openxmlformats.org/officeDocument/2006/relationships/image" Target="/ppt/media/image11.png" Id="Ra0d790a6c0f347f8" /><Relationship Type="http://schemas.openxmlformats.org/officeDocument/2006/relationships/notesSlide" Target="/ppt/notesSlides/notesSlide10.xml" Id="Rd61c32f274c24e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a9f001f214830" /><Relationship Type="http://schemas.openxmlformats.org/officeDocument/2006/relationships/image" Target="/ppt/media/image12.png" Id="R03353508d9b34c79" /><Relationship Type="http://schemas.openxmlformats.org/officeDocument/2006/relationships/notesSlide" Target="/ppt/notesSlides/notesSlide11.xml" Id="Rbc303e530cd74f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0464248b744b7" /><Relationship Type="http://schemas.openxmlformats.org/officeDocument/2006/relationships/notesSlide" Target="/ppt/notesSlides/notesSlide12.xml" Id="R6de9439b19dc43d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LSTM 验证MAE / W</c:v>
          </c:tx>
          <c:spPr>
            <a:ln xmlns:a="http://schemas.openxmlformats.org/drawingml/2006/main" w="28575">
              <a:solidFill>
                <a:srgbClr val="2F8CFF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754.5219338337321</c:v>
              </c:pt>
              <c:pt idx="1">
                <c:v>770.8748046974911</c:v>
              </c:pt>
              <c:pt idx="2">
                <c:v>842.3733862420905</c:v>
              </c:pt>
              <c:pt idx="3">
                <c:v>846.7373832277694</c:v>
              </c:pt>
              <c:pt idx="4">
                <c:v>868.8890382020164</c:v>
              </c:pt>
              <c:pt idx="5">
                <c:v>862.8035565003908</c:v>
              </c:pt>
            </c:numLit>
          </c:val>
        </c:ser>
        <c:ser>
          <c:idx val="1"/>
          <c:order val="1"/>
          <c:tx>
            <c:v>PatchTST 验证MAE / W</c:v>
          </c:tx>
          <c:spPr>
            <a:ln xmlns:a="http://schemas.openxmlformats.org/drawingml/2006/main" w="28575">
              <a:solidFill>
                <a:srgbClr val="42D392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714.819743488786</c:v>
              </c:pt>
              <c:pt idx="1">
                <c:v>738.4454795101192</c:v>
              </c:pt>
              <c:pt idx="2">
                <c:v>739.9857764022373</c:v>
              </c:pt>
              <c:pt idx="3">
                <c:v>768.2877716239697</c:v>
              </c:pt>
              <c:pt idx="4">
                <c:v>779.3891325224346</c:v>
              </c:pt>
              <c:pt idx="5">
                <c:v>770.0472912175529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3A4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00"/>
          <c:min val="6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3A4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111D2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solidFill>
            <a:srgbClr val="111D2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F7FAFF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111D2C"/>
    </a:solidFill>
    <a:ln xmlns:a="http://schemas.openxmlformats.org/drawingml/2006/main" w="0">
      <a:solidFill>
        <a:srgbClr val="111D2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 / W</c:v>
          </c:tx>
          <c:spPr>
            <a:solidFill xmlns:a="http://schemas.openxmlformats.org/drawingml/2006/main">
              <a:srgbClr val="2F8CFF"/>
            </a:solidFill>
          </c:spPr>
          <c:cat>
            <c:strLit>
              <c:ptCount val="3"/>
              <c:pt idx="0">
                <c:v>昨日同刻</c:v>
              </c:pt>
              <c:pt idx="1">
                <c:v>LSTM</c:v>
              </c:pt>
              <c:pt idx="2">
                <c:v>PatchTST</c:v>
              </c:pt>
            </c:strLit>
          </c:cat>
          <c:val>
            <c:numLit>
              <c:formatCode>General</c:formatCode>
              <c:ptCount val="3"/>
              <c:pt idx="0">
                <c:v>646.3</c:v>
              </c:pt>
              <c:pt idx="1">
                <c:v>762.9</c:v>
              </c:pt>
              <c:pt idx="2">
                <c:v>662.2</c:v>
              </c:pt>
            </c:numLit>
          </c:val>
        </c:ser>
        <c:ser>
          <c:idx val="1"/>
          <c:order val="1"/>
          <c:tx>
            <c:v>RMSE / W</c:v>
          </c:tx>
          <c:spPr>
            <a:solidFill xmlns:a="http://schemas.openxmlformats.org/drawingml/2006/main">
              <a:srgbClr val="53D7FF"/>
            </a:solidFill>
          </c:spPr>
          <c:cat>
            <c:strLit>
              <c:ptCount val="3"/>
              <c:pt idx="0">
                <c:v>昨日同刻</c:v>
              </c:pt>
              <c:pt idx="1">
                <c:v>LSTM</c:v>
              </c:pt>
              <c:pt idx="2">
                <c:v>PatchTST</c:v>
              </c:pt>
            </c:strLit>
          </c:cat>
          <c:val>
            <c:numLit>
              <c:formatCode>General</c:formatCode>
              <c:ptCount val="3"/>
              <c:pt idx="0">
                <c:v>1052.6</c:v>
              </c:pt>
              <c:pt idx="1">
                <c:v>923.9</c:v>
              </c:pt>
              <c:pt idx="2">
                <c:v>875.3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3A4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3A4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111D2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111D2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F7FAFF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111D2C"/>
    </a:solidFill>
    <a:ln xmlns:a="http://schemas.openxmlformats.org/drawingml/2006/main" w="0">
      <a:solidFill>
        <a:srgbClr val="111D2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1edc9e6b545a0"/>
          <a:srcRect xmlns:a="http://schemas.openxmlformats.org/drawingml/2006/main" l="22109" t="0" r="221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0"/>
            <a:ext cx="6800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80F9D-9E3B-4673-BC1C-A5661CC1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9D65C-D334-456F-B05F-0D3DA3EC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7C06B-EC9B-4CDF-9351-53AD94B1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《电力人工智能综合实训》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BC2FF-508A-418C-9A5D-AECBD07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PowerInsight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DB8CE-19CD-4A4D-8F5A-690265E2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家庭用电分析 · 预测 · 预警 · 智能建议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76F66-E935-4DF3-8D68-8A4DF78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5F850-81FF-4E0F-9CAA-032633E8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基于 UCI 家庭用电数据的可复现智能分析系统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C6B18-A926-49D3-9F78-D7A45BBE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队伍：小组 xx</a:t>
            </a:r>
          </a:p>
          <a:p xmlns:a="http://schemas.openxmlformats.org/drawingml/2006/main">
            <a:pPr algn="l">
              <a:def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组长：小组组长</a:t>
            </a:r>
          </a:p>
          <a:p xmlns:a="http://schemas.openxmlformats.org/drawingml/2006/main">
            <a:pPr algn="l">
              <a:def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成员：小组成员1 / 小组成员2 / 小组成员4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EABF0-01BD-4991-A3F7-6E8A761A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答辩展示 · 最终版</a:t>
            </a:r>
          </a:p>
        </p:txBody>
      </p:sp>
    </p:spTree>
    <p:extLst>
      <p:ext uri="{BB962C8B-B14F-4D97-AF65-F5344CB8AC3E}">
        <p14:creationId xmlns:p14="http://schemas.microsoft.com/office/powerpoint/2010/main" val="1354297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67A17-1BF4-4EBE-A53F-EF534817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68171-3AA5-4689-8CD8-202B9B6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为什么做：把分钟级用电数据变成可演示的决策闭环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F46BB-8EA2-43D3-B36F-2CC3F9A6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50965-EC87-4A31-8B7D-9E8F238B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ADDEC-C89F-436D-AE57-9CEAEB34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24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D0094-D14C-422B-A8E5-7C7CF98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rPr>
              <a:t>数据难点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B32B6-315A-4DE5-9CBB-AE3FFF33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260,640 行分钟记录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DE1B3-F514-41B8-BB3D-88BF3D73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缺失段、时间连续性与15分钟聚合必须可复现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E9703-A4BC-40A7-879A-D70BBC49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3524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30A1B-D243-4431-AF59-84AAFE7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算法难点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00976-6A9E-48DF-96F4-2415705F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672 点 → 96 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49ACE-CB90-4712-BF91-3ED782EC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统一切分比较季节基线、LSTM 与 PatchTST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FDF8D-60DC-4D60-A9A8-B5C51520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3524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FD6AF-44E5-4024-B9DD-F07FC61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应用难点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37BA3-1627-4A1C-B84C-EF604893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预测 → 预警 → 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720E4-6603-4F02-82BC-F2A9D2BC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页面需要能播放、能解释、能导出并适合答辩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0EAA0-47A3-4BB8-8ED3-7DF1C0B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小组协作与贡献比例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8D305-EB48-4808-9D59-76C5DCF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45110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2DAE8-11A2-46D6-8198-B886E27A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3586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小组组长 40%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97719-A8B5-44DA-8B84-280ED64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4895850"/>
            <a:ext cx="281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34554-C43C-467A-A34F-75E5DA55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5048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小组成员1 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A53B9-2E3E-4C5B-95F3-211A36FA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4895850"/>
            <a:ext cx="281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5E3CC-8E80-4425-87AA-696AEA1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048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小组成员2 25%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13F41-3761-4FF9-B195-AD25BD9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895850"/>
            <a:ext cx="11277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EEC8-A7A2-4C26-9221-6BAAD18C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40" y="5048250"/>
            <a:ext cx="9753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小组成员4 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AEF22-CDD1-48D5-B4DC-2AA4309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统筹与集成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467BE-0426-4590-A16B-AC69BF1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8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F0FF0-9564-4EBE-8B19-D1EB291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8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模型实验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75274-A01B-4AA0-B138-F34376D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816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测试与演示</a:t>
            </a:r>
          </a:p>
        </p:txBody>
      </p:sp>
    </p:spTree>
    <p:extLst>
      <p:ext uri="{BB962C8B-B14F-4D97-AF65-F5344CB8AC3E}">
        <p14:creationId xmlns:p14="http://schemas.microsoft.com/office/powerpoint/2010/main" val="1744083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236D43-18DD-4D71-9171-402B66F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2B626-7AA1-4027-A93F-E6A825A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数据基础：6个月分钟记录压缩成17,376个15分钟点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0A6E4-7E49-4610-BE0F-AC1C78B2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C9FF9-81F2-4B13-B29A-19673FA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45256-249E-442C-976D-EA859499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AB569-0C47-4C78-A8A9-25DEC13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E3700-34B3-4870-8943-0C7A8D81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260,640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A4089-FA3D-48CC-B906-F179553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原始分钟记录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B3C59-3B94-408B-A2C8-1CC84F28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3906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CF696-A872-4BBA-A2AB-A33EFBC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390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B7DBB-AAE8-43B8-84DD-43F46034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17,376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436B0-41C2-4B2D-BD43-29711DB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15分钟聚合点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BD37F-D4B1-4B12-A7BC-61D26E7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906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5A8A1-0103-42ED-826C-BEED35A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90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9F48E-9B26-434C-BDA2-6161A4E4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98.567%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FBE5C-C0B4-4EEE-B30B-25782BE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有效覆盖率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B006B-7AF8-4DF3-AC4F-ACB95AC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90650"/>
            <a:ext cx="304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BD8ED-D0FF-4FAF-8623-0065815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90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73B0A-86D0-4DD8-971B-D37B8D61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00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13 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4E2C8-212B-4BDA-B7AB-F382FAFD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原始缺失段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3E0A8-B87B-49D4-92D5-4CF5DE7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76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C9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4C95D"/>
                </a:solidFill>
                <a:latin typeface="Microsoft YaHei"/>
                <a:ea typeface="Microsoft YaHei"/>
                <a:cs typeface="Microsoft YaHei"/>
              </a:rPr>
              <a:t>最长 3,723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AC02E-2540-4766-AC74-3AF10865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70866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6e9cf20cd49c2"/>
          <a:stretch xmlns:a="http://schemas.openxmlformats.org/drawingml/2006/main"/>
        </p:blipFill>
        <p:spPr>
          <a:xfrm xmlns:a="http://schemas.openxmlformats.org/drawingml/2006/main">
            <a:off x="1494367" y="3124200"/>
            <a:ext cx="5012267" cy="281940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B8C81-079B-46E3-91B7-F9F67886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90850"/>
            <a:ext cx="39624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84015-98C7-4B90-BEAA-B7D17237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处理规则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8C20C-9EB5-4473-B67A-7E84E9E8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A37E3-E049-43D8-8158-42411B0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短缺失不超过60分钟：连续段内插值，共48行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986A9-7A62-42D6-88A8-271E2DC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0EB32-F5EB-41D9-ADF3-E047133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长缺失保留掩码：不跨段插值、不伪造连续样本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6E868E-FC7A-4F29-A916-CB8AF61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1F1C19-CFEF-4057-B4A3-EC9A915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每个15分钟桶至少80%有效分钟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8776B-9200-4D23-B143-5207F596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0B4AB0-6089-4764-A80A-9BC5616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固定月份切分：1-4月训练，5月验证，6月测试</a:t>
            </a:r>
          </a:p>
        </p:txBody>
      </p:sp>
    </p:spTree>
    <p:extLst>
      <p:ext uri="{BB962C8B-B14F-4D97-AF65-F5344CB8AC3E}">
        <p14:creationId xmlns:p14="http://schemas.microsoft.com/office/powerpoint/2010/main" val="2064469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DD8CCC-F5E1-4AAF-B1E5-108915BF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08DDA-376A-4F96-A97F-E5CB471A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系统架构：数据、算法、服务与展示四层闭环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9F516-84D6-47DB-962C-7ACF4F97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98BAF-0B2B-46C3-B8AA-BBEE881A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9B1BE-E99C-4E73-9AD6-DCA7C1A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885950" cy="20574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F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DC061-3CA2-4C05-A6B2-43D7045D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DAED1-3281-42FF-8927-3EF343FB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公开数据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32554-30DF-49BD-AE09-FA7F6977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UCI 原始分钟记录</a:t>
            </a:r>
          </a:p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CSV /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9F6D7-78CB-4F95-8FED-A481E6E1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213DD-1608-417D-9731-399ADF20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1885950" cy="20574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53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A94C9-A77E-4F24-AB6F-B4E6135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4CF26-5189-4940-B2CA-9D2E8BA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06F65-8907-476F-B53C-05107CD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校验 · 缺失保护</a:t>
            </a:r>
          </a:p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15分钟聚合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CD262-EFCC-4503-88F5-24D55A30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485C4-D23B-483D-9C73-BC73BCD7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885950" cy="20574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42D3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BF3D6-6D3E-43E3-8E34-B7A7A9AC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4AAC1-8080-4DA1-9BFA-5D9CC9D0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分析与模型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D33B4-00E0-4FBE-BDD2-AD8F5D4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历史KPI · 672→96</a:t>
            </a:r>
          </a:p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基线 / LSTM / PatchTST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D7C73-5960-491B-859D-AB3DF3D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14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C4C65-949E-4EDE-A522-FEC7A4C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1885950" cy="20574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049BD-6151-47AF-A30E-08E94E2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9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C9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DCED8-82A9-456B-82FA-96C7AFB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6C648-DF31-49A5-B296-84E26BEB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预测区间 · 预警</a:t>
            </a:r>
          </a:p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智能建议与导出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B67C2-87EE-417A-8ED4-72F02608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83927-A5E5-4F4A-9989-3722D51B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1885950" cy="20574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75E63-9D62-4747-9EF8-A0077B0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E7D59-679B-4FEE-B57A-DCB1DCE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七页应用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843FF-4DEA-4A65-828E-B167860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Streamlit 交互</a:t>
            </a:r>
          </a:p>
          <a:p xmlns:a="http://schemas.openxmlformats.org/drawingml/2006/main">
            <a:pPr algn="ctr"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BAT 一键启动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D9F40-517D-471E-93DB-962BA2A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工程原则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470DD-7D3A-4AA3-8F98-6003146C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352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78A248-DA9A-43E6-82BB-A3DB88CE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结果可复现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A1351-4321-4B53-A361-8BC882B1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固定数据切分、冻结模型产物、统一测试起点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C39E3-8A55-4C47-AAD3-D003762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43500"/>
            <a:ext cx="352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56527-D311-487C-8A53-DFEA002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054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链路可降级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B4962F-867C-40FB-91CD-F9C9369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0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核心分析可本地运行，外部服务异常明确提示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710B8-38C9-40C4-993E-5DA1892F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52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FCFB6-C884-4C09-B958-13CB7B89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054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答辩可验证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979C1B-1B60-4C13-8C0E-DE783EC3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0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截图来自最终代码，播放与导出均真实操作</a:t>
            </a:r>
          </a:p>
        </p:txBody>
      </p:sp>
    </p:spTree>
    <p:extLst>
      <p:ext uri="{BB962C8B-B14F-4D97-AF65-F5344CB8AC3E}">
        <p14:creationId xmlns:p14="http://schemas.microsoft.com/office/powerpoint/2010/main" val="774586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4033F-AE5B-4C96-A764-6A7338CA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47195-47CD-4CF0-8D4B-1B6735B5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历史用电分析：先验证数据规律，再进入模型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E1E1F-E697-457D-8BE0-C2944BF5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BEFCA-4B54-4DD7-8552-FA51986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8DE4E-D0F1-4766-9C12-6EF7609B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8961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23c53c6d141bd"/>
          <a:stretch xmlns:a="http://schemas.openxmlformats.org/drawingml/2006/main"/>
        </p:blipFill>
        <p:spPr>
          <a:xfrm xmlns:a="http://schemas.openxmlformats.org/drawingml/2006/main">
            <a:off x="590550" y="1869281"/>
            <a:ext cx="6629400" cy="3729038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1CB49-F4AB-4006-8D47-BAA18B4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28750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CDDD0-1122-4141-AE88-67A62223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28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BB8BC-DAD7-46AD-A736-0D202AD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38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4,988.285 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75DB8-02D8-4783-9CC7-3777E610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累计有功电量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72765-5C56-4D4F-8F19-D93F96B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943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5DC9E-C591-42EF-A284-3CFA7AC2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1A823-58A6-4A42-9165-E34FB28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1.1650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E15B7-50D8-4049-8B75-50E0BE27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平均功率 /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4976A-9B53-4852-8BF5-663222E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943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B8D1D-2D23-4AAF-9525-1FBA0D37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95EE3-6889-4948-A725-ACF245A0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8.2311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A72D8-6C39-496A-8F6F-CC28B54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峰值功率 / kW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3CD31-BD25-40AD-A478-1F1AF19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40957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0B07F-1A7A-457A-81E3-5A4BA52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主要发现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E6875-83A0-4B5D-B4D9-B5FEA9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160C5-EC01-4656-A0AE-78D10C20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峰值出现在 2007-02-22 21:00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5AB81-D3BA-4375-851D-0D188B0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D3FD1-27C6-42FD-9EE6-9B1389E5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负荷呈现稳定日内周期与晚间峰值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2F801-BA43-42D9-8734-286D64E2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34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6751A-7E62-4912-92A6-70C823B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11条负未分项记录保留原值，不强行修正</a:t>
            </a:r>
          </a:p>
        </p:txBody>
      </p:sp>
    </p:spTree>
    <p:extLst>
      <p:ext uri="{BB962C8B-B14F-4D97-AF65-F5344CB8AC3E}">
        <p14:creationId xmlns:p14="http://schemas.microsoft.com/office/powerpoint/2010/main" val="76288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FE33F-D4C9-412B-9B89-3F460741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0FC5E-2B77-46DE-86A5-E16AE6B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预测任务：固定切分、统一窗口、同一测试起点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2E085-3214-4792-ADC6-EF8DA61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E1541-8FA7-46F1-91CF-18957FD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CC378-6E34-43B2-8840-F822EB4C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监督式时间序列任务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3219D-C826-4499-ABAE-1D5AFE2F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095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F96F7-2019-482A-BD87-174C1FBE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rPr>
              <a:t>672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DFE46-12A7-43F9-A69D-99A5318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过去7天</a:t>
            </a:r>
          </a:p>
          <a:p xmlns:a="http://schemas.openxmlformats.org/drawingml/2006/main">
            <a:pPr algn="ctr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15分钟历史点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B063B-3687-4C7C-8F19-4C380E0E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050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CCF9D-BC07-4D36-8F49-88A1FB01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361A7-4067-46D0-8C5D-CA0E2EA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8607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未来24小时</a:t>
            </a:r>
          </a:p>
          <a:p xmlns:a="http://schemas.openxmlformats.org/drawingml/2006/main">
            <a:pPr algn="ctr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逐点预测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11204-2AFA-4E6B-8821-DFCFB8E0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04950"/>
            <a:ext cx="68770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0FBBB-0218-4606-9F15-9EB2C8F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时间切分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F3551-77FD-4269-A75D-056B38E3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3343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2AF12-454A-4127-A5E6-3BFA7AE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95550"/>
            <a:ext cx="3228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F79DF-2D12-4263-B6B7-0CD02C4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5275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2007.01-04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A844F-5476-4516-A545-20435B8E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81250"/>
            <a:ext cx="142398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8BA8-B69E-4C78-9D04-D6E521D9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95550"/>
            <a:ext cx="130968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24661-84DE-497C-BD51-5A60FF59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52750"/>
            <a:ext cx="1423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2007.05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64364-F929-4C8E-8B92-80A26AC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713" y="2381250"/>
            <a:ext cx="142398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19050">
            <a:solidFill>
              <a:srgbClr val="0710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B4AC8-22A0-4599-B2E6-C539127E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863" y="2495550"/>
            <a:ext cx="130968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01D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A9FD0-08FE-4126-BA0B-3466C138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713" y="2952750"/>
            <a:ext cx="1423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2007.06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64BE0-7997-4680-81B2-B112059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答辩主模型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9CE25-8804-4904-BC13-117363C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524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F8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EC421-F085-4CF4-9DF3-F712BCB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rPr>
              <a:t>昨日同刻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83F708-97DD-40E3-8512-0D4CDB9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强季节基线</a:t>
            </a:r>
          </a:p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无需训练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1905F-51FB-4580-B6E1-3D381CB2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38650"/>
            <a:ext cx="3524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53D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6CD8C-4D6E-4108-BCB3-E0F393EF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032D8-48B7-4BB3-98BD-E124F2C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1层 · hidden 64</a:t>
            </a:r>
          </a:p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3.425秒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35602-A115-4B1D-A715-8F06797E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524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42D3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62AF82-4570-410F-BF00-CC693A35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PatchTST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F6F59-6CF9-4C4B-A4C2-486B1633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patch 16 · 3层</a:t>
            </a:r>
          </a:p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11.120秒</a:t>
            </a:r>
          </a:p>
        </p:txBody>
      </p:sp>
    </p:spTree>
    <p:extLst>
      <p:ext uri="{BB962C8B-B14F-4D97-AF65-F5344CB8AC3E}">
        <p14:creationId xmlns:p14="http://schemas.microsoft.com/office/powerpoint/2010/main" val="420015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B2147-E1C7-49B3-B85E-4F5F33B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FEEC-A4C0-4FE3-804D-D9828F59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训练过程：第1轮最优，后续验证误差上升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C26D5-554D-4D4D-BDC7-E9FF86D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77656-0EB1-45A3-B7DB-6ACEA718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4ABFB-DCD9-4116-8167-A9DCA498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858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704850" y="1752600"/>
          <a:ext xmlns:a="http://schemas.openxmlformats.org/drawingml/2006/main" cx="63627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523d5e7f1f4ce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0C410-20C1-4996-9EA4-4818F3E1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28750"/>
            <a:ext cx="41529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25EA7-7A28-4024-B365-73D03B0D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287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C4017-AA5C-45F1-A479-992BAE40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Epoch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19253-981F-43ED-BA14-E355CF0A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两模型最佳验证轮次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410C8-1518-4C41-A156-D507AAAA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76550"/>
            <a:ext cx="2000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5D605-2206-4F12-988B-997D3CF1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76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D7CE3-3B36-4FBA-87F8-8470615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Epoch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28BF2-9E74-4E20-933C-2654DD88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早停结束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24885-0D5B-461C-9E6D-D308AB2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2000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9A42B-3BA6-4FE4-BC16-3272F135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3EC90-02BA-4C32-879E-39CC293F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861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恢复最佳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352EF-7DB9-488F-B5D3-DE2AD3A2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576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模型权重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D2533-8D2A-4116-9793-9435F9E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24350"/>
            <a:ext cx="41529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3335F-342C-4175-B920-557A657D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340FC-D02D-45A4-87EC-98E2CE98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66EC5-73DD-41ED-A004-8233909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720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第1轮验证MAE：LSTM 0.7545 / PatchTST 0.7148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D3F31-C40C-47B3-89AA-B2143175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38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D54D2-612A-4DAB-B3DA-0C8F08A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530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使用 patience=5 早停，避免继续过拟合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8292B-86B1-4C5D-B752-5EA18DB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9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512AD-A390-49D2-BDF7-A55648F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340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复杂模型必须与强季节基线同台比较</a:t>
            </a:r>
          </a:p>
        </p:txBody>
      </p:sp>
    </p:spTree>
    <p:extLst>
      <p:ext uri="{BB962C8B-B14F-4D97-AF65-F5344CB8AC3E}">
        <p14:creationId xmlns:p14="http://schemas.microsoft.com/office/powerpoint/2010/main" val="1730884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5F69A-0C4C-4712-A6B6-5230DE6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BB84-7227-494B-BA04-9F30A73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固定测试：复杂模型没有超过昨日同刻基线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74AC6-4C36-413F-B5DF-AA669E9D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6ED19-56FD-42BF-861A-702DA54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ABACD-45DC-4D93-9BE7-A924016C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8961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4389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4e72c9cac24ed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FA0C5-F5ED-4ACA-95C5-337AA795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114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1AA3A-4B15-4D36-9443-F7D1E96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C4D3E-7EE4-45B5-B716-30244316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0.6463 kW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1D976-6761-432B-A14E-D11033DE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最佳 MAE：昨日同刻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57495-6CE5-4774-985E-DCF2570C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4114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8B261-0BC8-45A4-82E7-E0D904F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79974-0333-4B2D-BA35-5CA91D28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0.8753 kW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34943-BB28-4EC0-B38C-BD91DFA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最佳 RMSE：PatchTST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53C73-B966-4716-ACAE-2CCDEAD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4114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F96A2-0353-42B4-A315-03F9849C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D10F3-15F3-4921-A21E-0E6F717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81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94.07% / 96.20%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6EC7D-27A9-4A8A-ACFB-F9CD1FB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基线 / PatchTST 区间覆盖率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0EF54-BED2-49BA-98AB-0B40A0BE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43550"/>
            <a:ext cx="4114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2C24"/>
          </a:solidFill>
          <a:ln xmlns:a="http://schemas.openxmlformats.org/drawingml/2006/main" w="9525">
            <a:solidFill>
              <a:srgbClr val="42D3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5E09A-1935-4DB3-9765-153A14E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959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默认展示模型按真实 MAE 选择昨日同刻</a:t>
            </a:r>
          </a:p>
        </p:txBody>
      </p:sp>
    </p:spTree>
    <p:extLst>
      <p:ext uri="{BB962C8B-B14F-4D97-AF65-F5344CB8AC3E}">
        <p14:creationId xmlns:p14="http://schemas.microsoft.com/office/powerpoint/2010/main" val="1479617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0A6DB-FF3C-4A70-9433-8C24DDA4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EA6F4-AB08-45BA-A73E-E4268F52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七页产品：从总览到设置的完整演示链路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5802A-7A97-4E7F-B2FD-750EC716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A638-5815-4A0B-B5EB-E06D1AC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42132-FCFD-4105-BFAA-84CC86C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c04481d524e3f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2B1EF-5711-4CD1-8517-97053D20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系统总览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9B86-724D-484F-8CC7-078AA8A7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3108411d14903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52400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A93EF-B244-4969-B5AE-6CFAFBDC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D484D-C941-4C7D-8100-E57A478E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2875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50c5cb063466b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52400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4EE53-2AC1-416B-BDF1-8FAC25BF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用电分析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1CF1F-39DC-4964-9272-2E27E2E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2875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cff8e6f294aa0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152400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F6849-268B-4F43-A83E-FB16FA8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负荷预测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C069C-F5C7-4358-88F8-A00C1D92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4810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7380d44554f45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1675" y="394335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D723C-9B3E-47CB-BB25-E4513066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543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监测预警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1F13B-B052-4FCD-A50B-C6B0D0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810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b7702d5d84f49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394335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D5348-0962-4265-8084-265B1A0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43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智能建议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BB219-C320-466C-BD1F-EEA2BA09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48100"/>
            <a:ext cx="26098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a6bcb4f2c482e"/>
          <a:srcRect xmlns:a="http://schemas.openxmlformats.org/drawingml/2006/main" l="5352" t="0" r="5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8575" y="3943350"/>
            <a:ext cx="2419350" cy="1524000"/>
          </a:xfrm>
          <a:prstGeom xmlns:a="http://schemas.openxmlformats.org/drawingml/2006/main" prst="round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09AFF-0808-43E9-ADB2-B54EFD5D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43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系统设置</a:t>
            </a:r>
          </a:p>
        </p:txBody>
      </p:sp>
    </p:spTree>
    <p:extLst>
      <p:ext uri="{BB962C8B-B14F-4D97-AF65-F5344CB8AC3E}">
        <p14:creationId xmlns:p14="http://schemas.microsoft.com/office/powerpoint/2010/main" val="1173578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A42093-368F-4DB0-A852-A90308F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12FC-6EFB-4AC9-AF21-F92E1EA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监测预警：一次点击，0.5秒逐点播放96步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936D5-CD24-4881-A779-4121B9D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6D9F5-0426-4AAB-9B10-5417C35F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96A79-E481-4F68-9379-C6E9D297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5247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790a6c0f347f8"/>
          <a:stretch xmlns:a="http://schemas.openxmlformats.org/drawingml/2006/main"/>
        </p:blipFill>
        <p:spPr>
          <a:xfrm xmlns:a="http://schemas.openxmlformats.org/drawingml/2006/main">
            <a:off x="590550" y="1701998"/>
            <a:ext cx="7258050" cy="4082653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5508B-48EF-4FB5-8476-90A9C4D2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48615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44414-0BE2-4E7C-B99F-2085AC94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57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播放过程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54D43-7CBC-4430-9A88-13549DA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76475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7D2DF-C33A-4E27-ADC3-3E6CADA7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3B860-70F6-4257-AC91-5662725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rPr>
              <a:t>1 / 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A663B-4705-4075-BE62-9B7E9C1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479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点击一键启动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FBD77-3E5A-4D0A-83BE-90DB7E8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33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B080A-E3FC-46F9-8A5E-E6B4D7D3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12 / 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DA9E1-658A-471A-A71F-0ADC1CF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908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浏览器截图实测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50408-5024-4328-9997-4E88FE6C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76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216B4-2327-4E5F-A3C8-D852D4B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96 / 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AFC03-7045-4956-ADA1-4FA4100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约48秒自动结束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EF64C-00D2-4D6E-AD73-936D41F8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1066800" cy="18478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F8716-DC7C-43F8-B3EC-63652E9C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FF"/>
          </a:solidFill>
          <a:ln xmlns:a="http://schemas.openxmlformats.org/drawingml/2006/main" w="0">
            <a:solidFill>
              <a:srgbClr val="2F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1C437-42E4-4161-BF2A-77A1697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0.5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78688-3FA6-41AB-B67C-3774C4C7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387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每次增加</a:t>
            </a:r>
          </a:p>
          <a:p xmlns:a="http://schemas.openxmlformats.org/drawingml/2006/main">
            <a:pPr algn="ctr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 个点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EE627-2B4A-41FD-BE54-1D0DA2AA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1066800" cy="18478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D9118-9F56-4024-B014-F102CAC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2AE63-F3C0-4D15-8246-6531B17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958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6E226-F9D8-4B43-9B8A-5088F0C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回放预警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B6E99-4576-4435-9455-C89CA876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10050"/>
            <a:ext cx="1085850" cy="1847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DA56EE-7EE9-4966-82AF-92B961CF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1005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5DAAB-B0ED-4215-926E-70C137F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0019CC-D63B-47C0-AD6E-A7EB3F27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238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曲线与状态</a:t>
            </a:r>
          </a:p>
        </p:txBody>
      </p:sp>
    </p:spTree>
    <p:extLst>
      <p:ext uri="{BB962C8B-B14F-4D97-AF65-F5344CB8AC3E}">
        <p14:creationId xmlns:p14="http://schemas.microsoft.com/office/powerpoint/2010/main" val="329454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08671-EF3A-44DB-B8AC-34A1B561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POWERINSIGHT / 课程答辩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B132F-6E6C-41D8-B9FD-6D4483AD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智能建议：真实API调用 + Markdown一键导出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AF25C-5E51-44E3-AE78-3FE5F898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A4F"/>
          </a:solidFill>
          <a:ln xmlns:a="http://schemas.openxmlformats.org/drawingml/2006/main" w="0">
            <a:solidFill>
              <a:srgbClr val="293A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7977B-9E4F-4FE4-BE3C-A90B6CD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17167-BFD6-4C47-8791-FB102058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7437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0B1421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3508d9b34c79"/>
          <a:stretch xmlns:a="http://schemas.openxmlformats.org/drawingml/2006/main"/>
        </p:blipFill>
        <p:spPr>
          <a:xfrm xmlns:a="http://schemas.openxmlformats.org/drawingml/2006/main">
            <a:off x="590550" y="1921669"/>
            <a:ext cx="6477000" cy="3643313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398DE-568F-4A35-A6F9-1A05B20A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28750"/>
            <a:ext cx="42672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657B7-6D62-4E33-9180-A167FB0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57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真实链路状态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AC37B-5732-495B-94DA-884756F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F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68ED1-52F1-4135-A34A-B4BA56B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955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CFF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F8CFF"/>
                </a:solidFill>
                <a:latin typeface="Consolas"/>
                <a:ea typeface="Consolas"/>
                <a:cs typeface="Consolas"/>
              </a:rPr>
              <a:t>mode=api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044DE-760D-4BA9-8458-82298648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485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42D3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B6D73-1B8C-49ED-B33D-0E63C020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955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2D392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42D392"/>
                </a:solidFill>
                <a:latin typeface="Consolas"/>
                <a:ea typeface="Consolas"/>
                <a:cs typeface="Consolas"/>
              </a:rPr>
              <a:t>diagnostic=None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0E052-AAEF-4E22-9D62-2C4ED7B3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9075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53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22656-FC39-45DA-9F7F-A3E079DD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95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3D7FF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53D7FF"/>
                </a:solidFill>
                <a:latin typeface="Consolas"/>
                <a:ea typeface="Consolas"/>
                <a:cs typeface="Consolas"/>
              </a:rPr>
              <a:t>gpt-5.6-luna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9CD95-9D17-41F3-AFC3-6AE1F15F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4267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3336A-6B36-44D6-A2B8-084FE42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生成与导出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5294D-323C-4EEF-B942-09160066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E0E12-0F6F-42B5-B7C4-0DF1B314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建议按现状判断、峰值管理、日常执行、持续观察组织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0362A-C3DD-4E28-81C6-0C6B2460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0F3A8-FE35-4A84-A7D3-0A75E39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允许生成约1000字完整中文建议，不做生硬截断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B612C-2A2E-4F66-BA1C-1B452BCB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7FF"/>
          </a:solidFill>
          <a:ln xmlns:a="http://schemas.openxmlformats.org/drawingml/2006/main" w="0">
            <a:solidFill>
              <a:srgbClr val="53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372C9-08C5-4A95-B16D-AEBB535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一键导出 powerinsight_advice.md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725E3-F7D2-4570-B0BE-22B647DB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10150"/>
            <a:ext cx="42672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93A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84F28-EBDC-4158-96CD-DD1224EA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工程验收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57FD1-6DE2-4418-A1D9-28BEB8A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435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135项测试 · Ruff · mypy src · pre-commit · BAT启动</a:t>
            </a:r>
          </a:p>
        </p:txBody>
      </p:sp>
    </p:spTree>
    <p:extLst>
      <p:ext uri="{BB962C8B-B14F-4D97-AF65-F5344CB8AC3E}">
        <p14:creationId xmlns:p14="http://schemas.microsoft.com/office/powerpoint/2010/main" val="519625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31B0C-5C11-42C5-805A-9FDD5E5D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结论 /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9A7A6-CEEC-42A6-A8C3-89AF16C8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真实结果比“漂亮结果”更有价值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05EF7-AA0E-4371-AAC7-A5BF9FC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PowerInsight 完成了从公开数据到预测、预警、建议与课程材料的闭环交付。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2603C-C9D6-4FF8-A27E-97C52DD0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3524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2F8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F9FA6-6699-4E27-86E6-1B6223B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8C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7E495-0A48-4EB4-A9D8-9839981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固定月份切分、冻结模型、统一测试与一键启动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22323-A9B1-453A-BB9A-F79D9F5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3524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53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347F7-F06A-4C81-8927-ECABE087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3D7FF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FD631-61EF-41D2-83EA-994BE2FA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复杂模型未超过强季节基线，按真实MAE选择默认模型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26448-ABBF-4393-8F03-94F1411B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0400"/>
            <a:ext cx="3524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1D2C"/>
          </a:solidFill>
          <a:ln xmlns:a="http://schemas.openxmlformats.org/drawingml/2006/main" w="9525">
            <a:solidFill>
              <a:srgbClr val="42D3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FAE5D-E39D-4B10-9DD9-431E8F5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2D392"/>
                </a:solidFill>
                <a:latin typeface="Microsoft YaHei"/>
                <a:ea typeface="Microsoft YaHei"/>
                <a:cs typeface="Microsoft YaHei"/>
              </a:rPr>
              <a:t>可演示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82BD6-6354-4CAF-BE66-5597A65B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0.5秒逐点播放、真实智能建议、Markdown导出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C3A7A-8359-46C2-BCDD-90CDAF15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F8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9BA0B-1EAC-4858-A0E8-A63F7AF0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可复现 · 可解释 · 可演示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1A233-361C-4202-85B4-CBF257DC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欢迎提问</a:t>
            </a:r>
          </a:p>
        </p:txBody>
      </p:sp>
    </p:spTree>
    <p:extLst>
      <p:ext uri="{BB962C8B-B14F-4D97-AF65-F5344CB8AC3E}">
        <p14:creationId xmlns:p14="http://schemas.microsoft.com/office/powerpoint/2010/main" val="1316835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2026-07-22T06:14:10.4760000Z</dcterms:created>
  <dcterms:modified xsi:type="dcterms:W3CDTF">2026-07-22T06:14:10.4760000Z</dcterms:modified>
</coreProperties>
</file>